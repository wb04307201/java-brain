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084167" y="1371600"/>
            <a:ext cx="1097280" cy="1097280"/>
          </a:xfrm>
          <a:prstGeom prst="roundRect">
            <a:avLst/>
          </a:prstGeom>
          <a:solidFill>
            <a:srgbClr val="0073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193895" y="1283817"/>
            <a:ext cx="175564" cy="175564"/>
          </a:xfrm>
          <a:prstGeom prst="ellipse">
            <a:avLst/>
          </a:prstGeom>
          <a:solidFill>
            <a:srgbClr val="0073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435297" y="1283817"/>
            <a:ext cx="175564" cy="175564"/>
          </a:xfrm>
          <a:prstGeom prst="ellipse">
            <a:avLst/>
          </a:prstGeom>
          <a:solidFill>
            <a:srgbClr val="0073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654753" y="1283817"/>
            <a:ext cx="175564" cy="175564"/>
          </a:xfrm>
          <a:prstGeom prst="ellipse">
            <a:avLst/>
          </a:prstGeom>
          <a:solidFill>
            <a:srgbClr val="0073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896154" y="1283817"/>
            <a:ext cx="175564" cy="175564"/>
          </a:xfrm>
          <a:prstGeom prst="ellipse">
            <a:avLst/>
          </a:prstGeom>
          <a:solidFill>
            <a:srgbClr val="0073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547207" y="1371600"/>
            <a:ext cx="1097280" cy="1097280"/>
          </a:xfrm>
          <a:prstGeom prst="roundRect">
            <a:avLst/>
          </a:prstGeom>
          <a:solidFill>
            <a:srgbClr val="6B4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656935" y="1283817"/>
            <a:ext cx="175564" cy="175564"/>
          </a:xfrm>
          <a:prstGeom prst="ellipse">
            <a:avLst/>
          </a:prstGeom>
          <a:solidFill>
            <a:srgbClr val="6B4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898337" y="1283817"/>
            <a:ext cx="175564" cy="175564"/>
          </a:xfrm>
          <a:prstGeom prst="ellipse">
            <a:avLst/>
          </a:prstGeom>
          <a:solidFill>
            <a:srgbClr val="6B4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117793" y="1283817"/>
            <a:ext cx="175564" cy="175564"/>
          </a:xfrm>
          <a:prstGeom prst="ellipse">
            <a:avLst/>
          </a:prstGeom>
          <a:solidFill>
            <a:srgbClr val="6B4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359194" y="1283817"/>
            <a:ext cx="175564" cy="175564"/>
          </a:xfrm>
          <a:prstGeom prst="ellipse">
            <a:avLst/>
          </a:prstGeom>
          <a:solidFill>
            <a:srgbClr val="6B4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010247" y="1371600"/>
            <a:ext cx="1097280" cy="109728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19975" y="1283817"/>
            <a:ext cx="175564" cy="1755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361377" y="1283817"/>
            <a:ext cx="175564" cy="1755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580833" y="1283817"/>
            <a:ext cx="175564" cy="1755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822234" y="1283817"/>
            <a:ext cx="175564" cy="1755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108960"/>
            <a:ext cx="1036289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1F2937"/>
                </a:solidFill>
                <a:latin typeface="Inter"/>
              </a:rPr>
              <a:t>JavaBrain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38912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6B7280"/>
                </a:solidFill>
                <a:latin typeface="阿里巴巴普惠体 3.0"/>
              </a:rPr>
              <a:t>让您的系统瞬间拥有“思考”与“执行”的智能大脑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0" y="5029200"/>
            <a:ext cx="4876495" cy="54864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0" y="5074920"/>
            <a:ext cx="48764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阿里巴巴普惠体 3.0"/>
              </a:rPr>
              <a:t>3 组件 · 1 starter · 0 漂移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3" nodeType="withEffect" dur="500" begin="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8" nodeType="withEffect" dur="500" begin="3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3" nodeType="withEffect" dur="500" begin="6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8" nodeType="withEffect" dur="500" begin="9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20" nodeType="withEffect" dur="500" begin="1400ms" fill="hold">
              <p:animEffect presetClass="entr" presetId="10" dur="500"/>
            </p:cTn>
          </p:par>
        </p:par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F2937"/>
                </a:solidFill>
                <a:latin typeface="阿里巴巴普惠体 3.0"/>
              </a:rPr>
              <a:t>接入 AI 的 3 个痛点 vs JavaBrain 的 3 个解法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DC2626"/>
                </a:solidFill>
                <a:latin typeface="Inter"/>
              </a:rPr>
              <a:t>3 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01752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DC2626"/>
                </a:solidFill>
                <a:latin typeface="Inter"/>
              </a:rPr>
              <a:t>5 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0624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DC2626"/>
                </a:solidFill>
                <a:latin typeface="Inter"/>
              </a:rPr>
              <a:t>3 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108960"/>
            <a:ext cx="3047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F59E0B"/>
                </a:solidFill>
                <a:latin typeface="Inter"/>
              </a:rPr>
              <a:t>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9695" y="182880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10B981"/>
                </a:solidFill>
                <a:latin typeface="Inter"/>
              </a:rPr>
              <a:t>3 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9695" y="301752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10B981"/>
                </a:solidFill>
                <a:latin typeface="Inter"/>
              </a:rPr>
              <a:t>90 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19695" y="420624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10B981"/>
                </a:solidFill>
                <a:latin typeface="Inter"/>
              </a:rPr>
              <a:t>10 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0" y="5760720"/>
            <a:ext cx="5790895" cy="640080"/>
          </a:xfrm>
          <a:prstGeom prst="roundRect">
            <a:avLst/>
          </a:prstGeom>
          <a:solidFill>
            <a:srgbClr val="FEF3C7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0" y="5806440"/>
            <a:ext cx="5790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阿里巴巴普惠体 3.0"/>
              </a:rPr>
              <a:t>★ 3 月 vs 3 分 = 1440 倍效率提升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4" nodeType="withEffect" dur="500" begin="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5" nodeType="withEffect" dur="500" begin="6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6" nodeType="withEffect" dur="500" begin="12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7" nodeType="withEffect" dur="500" begin="2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8" nodeType="withEffect" dur="500" begin="28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9" nodeType="withEffect" dur="500" begin="34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0" nodeType="withEffect" dur="500" begin="4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1" nodeType="withEffect" dur="1500" begin="5000ms" fill="hold" repeatCount="indefinite">
              <p:animEffect presetClass="emph" presetId="26" dur="1500"/>
            </p:cTn>
          </p:par>
        </p:par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F2937"/>
                </a:solidFill>
                <a:latin typeface="阿里巴巴普惠体 3.0"/>
              </a:rPr>
              <a:t>JavaBrain = 灵梭 + SQL工坊 + SQL工坊 MCP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312767" y="1371600"/>
            <a:ext cx="822960" cy="822960"/>
          </a:xfrm>
          <a:prstGeom prst="roundRect">
            <a:avLst/>
          </a:prstGeom>
          <a:solidFill>
            <a:srgbClr val="0073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395063" y="1305763"/>
            <a:ext cx="131673" cy="131673"/>
          </a:xfrm>
          <a:prstGeom prst="ellipse">
            <a:avLst/>
          </a:prstGeom>
          <a:solidFill>
            <a:srgbClr val="0073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576114" y="1305763"/>
            <a:ext cx="131673" cy="131673"/>
          </a:xfrm>
          <a:prstGeom prst="ellipse">
            <a:avLst/>
          </a:prstGeom>
          <a:solidFill>
            <a:srgbClr val="0073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740706" y="1305763"/>
            <a:ext cx="131673" cy="131673"/>
          </a:xfrm>
          <a:prstGeom prst="ellipse">
            <a:avLst/>
          </a:prstGeom>
          <a:solidFill>
            <a:srgbClr val="0073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921757" y="1305763"/>
            <a:ext cx="131673" cy="131673"/>
          </a:xfrm>
          <a:prstGeom prst="ellipse">
            <a:avLst/>
          </a:prstGeom>
          <a:solidFill>
            <a:srgbClr val="0073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38447" y="2240279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07396"/>
                </a:solidFill>
                <a:latin typeface="阿里巴巴普惠体 3.0"/>
              </a:rPr>
              <a:t>灵梭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84367" y="1371600"/>
            <a:ext cx="822960" cy="822960"/>
          </a:xfrm>
          <a:prstGeom prst="roundRect">
            <a:avLst/>
          </a:prstGeom>
          <a:solidFill>
            <a:srgbClr val="6B4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766663" y="1305763"/>
            <a:ext cx="131673" cy="131673"/>
          </a:xfrm>
          <a:prstGeom prst="ellipse">
            <a:avLst/>
          </a:prstGeom>
          <a:solidFill>
            <a:srgbClr val="6B4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47714" y="1305763"/>
            <a:ext cx="131673" cy="131673"/>
          </a:xfrm>
          <a:prstGeom prst="ellipse">
            <a:avLst/>
          </a:prstGeom>
          <a:solidFill>
            <a:srgbClr val="6B4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12306" y="1305763"/>
            <a:ext cx="131673" cy="131673"/>
          </a:xfrm>
          <a:prstGeom prst="ellipse">
            <a:avLst/>
          </a:prstGeom>
          <a:solidFill>
            <a:srgbClr val="6B4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293357" y="1305763"/>
            <a:ext cx="131673" cy="131673"/>
          </a:xfrm>
          <a:prstGeom prst="ellipse">
            <a:avLst/>
          </a:prstGeom>
          <a:solidFill>
            <a:srgbClr val="6B4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10047" y="2240279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6B46C1"/>
                </a:solidFill>
                <a:latin typeface="阿里巴巴普惠体 3.0"/>
              </a:rPr>
              <a:t>SQL工坊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55967" y="1371600"/>
            <a:ext cx="822960" cy="8229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38263" y="1305763"/>
            <a:ext cx="131673" cy="131673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9314" y="1305763"/>
            <a:ext cx="131673" cy="131673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483906" y="1305763"/>
            <a:ext cx="131673" cy="131673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664958" y="1305763"/>
            <a:ext cx="131673" cy="131673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81647" y="2240279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0B981"/>
                </a:solidFill>
                <a:latin typeface="阿里巴巴普惠体 3.0"/>
              </a:rPr>
              <a:t>SQL工坊 MCP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2004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59E0B"/>
                </a:solidFill>
                <a:latin typeface="阿里巴巴普惠体 3.0"/>
              </a:rPr>
              <a:t>✓ 灵梭:Spring Boot AI 加速器,零配置接入 RAG / MCP / Skill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70332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F2937"/>
                </a:solidFill>
                <a:latin typeface="阿里巴巴普惠体 3.0"/>
              </a:rPr>
              <a:t>✓ SQL工坊:JSON CRUD + Calcite 联邦 + Amis 低代码,数据开发效率 +300%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2062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280"/>
                </a:solidFill>
                <a:latin typeface="阿里巴巴普惠体 3.0"/>
              </a:rPr>
              <a:t>✓ SQL工坊 MCP:打通 AI ↔ 业务数据库,数据不出企业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70916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F2937"/>
                </a:solidFill>
                <a:latin typeface="阿里巴巴普惠体 3.0"/>
              </a:rPr>
              <a:t>✓ 3 个依赖库可单独引入;SQL工坊还可单独服务对接外部项目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3" nodeType="withEffect" dur="500" begin="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4" nodeType="withEffect" dur="500" begin="6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22" nodeType="withEffect" dur="500" begin="12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22" nodeType="withEffect" dur="1500" begin="2000ms" fill="hold" repeatCount="indefinite">
              <p:animEffect presetClass="emph" presetId="26" dur="1500"/>
            </p:cTn>
          </p:par>
        </p:par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396"/>
                </a:solidFill>
                <a:latin typeface="Inter"/>
              </a:rPr>
              <a:t>灵梭 · LoomAgent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F2937"/>
                </a:solidFill>
                <a:latin typeface="阿里巴巴普惠体 3.0"/>
              </a:rPr>
              <a:t>Spring AI 一键启动 · 改 .st 文件 AI 行为就变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86687" y="2286000"/>
            <a:ext cx="457200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86687" y="246888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7396"/>
                </a:solidFill>
                <a:latin typeface="阿里巴巴普惠体 3.0"/>
              </a:rPr>
              <a:t>📦 6 大功能模块</a:t>
            </a:r>
          </a:p>
          <a:p>
            <a:r>
              <a:t>一站集成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33007" y="2286000"/>
            <a:ext cx="4572000" cy="11887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33007" y="246888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9E0B"/>
                </a:solidFill>
                <a:latin typeface="阿里巴巴普惠体 3.0"/>
              </a:rPr>
              <a:t>🔌 MCP 可热插拔</a:t>
            </a:r>
          </a:p>
          <a:p>
            <a:r>
              <a:t>8+ 服务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86687" y="3749039"/>
            <a:ext cx="4572000" cy="11887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6687" y="39319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9E0B"/>
                </a:solidFill>
                <a:latin typeface="阿里巴巴普惠体 3.0"/>
              </a:rPr>
              <a:t>🧠 Skill 模板</a:t>
            </a:r>
          </a:p>
          <a:p>
            <a:r>
              <a:t>改 .st 即生效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3749039"/>
            <a:ext cx="457200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33007" y="39319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7396"/>
                </a:solidFill>
                <a:latin typeface="阿里巴巴普惠体 3.0"/>
              </a:rPr>
              <a:t>💬 流式对话 + 思维链</a:t>
            </a:r>
          </a:p>
          <a:p>
            <a:r>
              <a:t>SSE + 可折叠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4864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B46C1"/>
                </a:solidFill>
                <a:latin typeface="阿里巴巴普惠体 3.0"/>
              </a:rPr>
              <a:t>▼ 下一页 · 6 大功能模块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4" nodeType="withEffect" dur="500" begin="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5" nodeType="withEffect" dur="500" begin="6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9" nodeType="withEffect" dur="500" begin="12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9" nodeType="withEffect" dur="1500" begin="2000ms" fill="hold" repeatCount="indefinite">
              <p:animEffect presetClass="emph" presetId="26" dur="1500"/>
            </p:cTn>
          </p:par>
        </p:par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F2937"/>
                </a:solidFill>
                <a:latin typeface="阿里巴巴普惠体 3.0"/>
              </a:rPr>
              <a:t>灵梭 · 6 大功能模块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26567" y="1188720"/>
            <a:ext cx="365760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26567" y="13716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07396"/>
                </a:solidFill>
                <a:latin typeface="阿里巴巴普惠体 3.0"/>
              </a:rPr>
              <a:t>📚 RAG 知识库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6567" y="20116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Tika + JVector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67047" y="1188720"/>
            <a:ext cx="3657600" cy="16459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67047" y="13716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阿里巴巴普惠体 3.0"/>
              </a:rPr>
              <a:t>🔧 MCP 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67047" y="20116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8+ 服务可热插拔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07527" y="1188720"/>
            <a:ext cx="3657600" cy="16459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07527" y="13716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阿里巴巴普惠体 3.0"/>
              </a:rPr>
              <a:t>🧠 Skill 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07527" y="20116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.st 模板即提示词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6567" y="3017520"/>
            <a:ext cx="365760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6567" y="32004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07396"/>
                </a:solidFill>
                <a:latin typeface="阿里巴巴普惠体 3.0"/>
              </a:rPr>
              <a:t>📁 文件管理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6567" y="38404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磁盘 + H2 元数据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67047" y="3017520"/>
            <a:ext cx="365760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67047" y="32004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07396"/>
                </a:solidFill>
                <a:latin typeface="阿里巴巴普惠体 3.0"/>
              </a:rPr>
              <a:t>💬 对话 UI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67047" y="38404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SSE + 思维链折叠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07527" y="3017520"/>
            <a:ext cx="365760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07527" y="32004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07396"/>
                </a:solidFill>
                <a:latin typeface="阿里巴巴普惠体 3.0"/>
              </a:rPr>
              <a:t>🛠️ 内置工具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07527" y="38404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时间 / Git / Maven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阿里巴巴普惠体 3.0"/>
              </a:rPr>
              <a:t>★ 改一个 .st 文件,AI 行为就变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4" nodeType="withEffect" dur="500" begin="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7" nodeType="withEffect" dur="500" begin="2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0" nodeType="withEffect" dur="500" begin="4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3" nodeType="withEffect" dur="500" begin="6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6" nodeType="withEffect" dur="500" begin="8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9" nodeType="withEffect" dur="500" begin="1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7" nodeType="withEffect" dur="1500" begin="10000ms" fill="hold" repeatCount="indefinite">
              <p:animEffect presetClass="emph" presetId="26" dur="1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0" nodeType="withEffect" dur="1500" begin="12000ms" fill="hold" repeatCount="indefinite">
              <p:animEffect presetClass="emph" presetId="26" dur="1500"/>
            </p:cTn>
          </p:par>
        </p:par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B46C1"/>
                </a:solidFill>
                <a:latin typeface="Inter"/>
              </a:rPr>
              <a:t>SQL工坊 · SQL Forge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F2937"/>
                </a:solidFill>
                <a:latin typeface="阿里巴巴普惠体 3.0"/>
              </a:rPr>
              <a:t>JSON CRUD + Calcite 联邦 + Amis 低代码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86687" y="2286000"/>
            <a:ext cx="4572000" cy="11887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86687" y="246888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9E0B"/>
                </a:solidFill>
                <a:latin typeface="阿里巴巴普惠体 3.0"/>
              </a:rPr>
              <a:t>🔌 JSON CRUD</a:t>
            </a:r>
          </a:p>
          <a:p>
            <a:r>
              <a:t>一套协议 5 method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33007" y="2286000"/>
            <a:ext cx="4572000" cy="11887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33007" y="246888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9E0B"/>
                </a:solidFill>
                <a:latin typeface="阿里巴巴普惠体 3.0"/>
              </a:rPr>
              <a:t>🌐 Calcite 联邦</a:t>
            </a:r>
          </a:p>
          <a:p>
            <a:r>
              <a:t>跨 MySQL+PG+H2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86687" y="3749039"/>
            <a:ext cx="4572000" cy="11887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6687" y="39319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9E0B"/>
                </a:solidFill>
                <a:latin typeface="阿里巴巴普惠体 3.0"/>
              </a:rPr>
              <a:t>🎨 Amis 低代码</a:t>
            </a:r>
          </a:p>
          <a:p>
            <a:r>
              <a:t>JSON 模板 + Console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3749039"/>
            <a:ext cx="457200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33007" y="39319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7396"/>
                </a:solidFill>
                <a:latin typeface="阿里巴巴普惠体 3.0"/>
              </a:rPr>
              <a:t>🔒 MCP 5 受限工具</a:t>
            </a:r>
          </a:p>
          <a:p>
            <a:r>
              <a:t>数据不出企业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4864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B46C1"/>
                </a:solidFill>
                <a:latin typeface="阿里巴巴普惠体 3.0"/>
              </a:rPr>
              <a:t>▼ 下一页 · 4 starter + 6 功能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4" nodeType="withEffect" dur="500" begin="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5" nodeType="withEffect" dur="500" begin="6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1" nodeType="withEffect" dur="500" begin="12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1" nodeType="withEffect" dur="1500" begin="2000ms" fill="hold" repeatCount="indefinite">
              <p:animEffect presetClass="emph" presetId="26" dur="1500"/>
            </p:cTn>
          </p:par>
        </p:par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F2937"/>
                </a:solidFill>
                <a:latin typeface="阿里巴巴普惠体 3.0"/>
              </a:rPr>
              <a:t>SQL工坊 · 4 starter + 6 功能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72287" y="914400"/>
            <a:ext cx="2743200" cy="4572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2287" y="960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JetBrains Mono"/>
              </a:rPr>
              <a:t>sql-forge-starter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06927" y="914400"/>
            <a:ext cx="2743200" cy="457200"/>
          </a:xfrm>
          <a:prstGeom prst="roundRect">
            <a:avLst/>
          </a:prstGeom>
          <a:solidFill>
            <a:srgbClr val="0073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306927" y="960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JetBrains Mono"/>
              </a:rPr>
              <a:t>sql-forge-calcite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41567" y="914400"/>
            <a:ext cx="2743200" cy="457200"/>
          </a:xfrm>
          <a:prstGeom prst="roundRect">
            <a:avLst/>
          </a:prstGeom>
          <a:solidFill>
            <a:srgbClr val="0073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41567" y="960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JetBrains Mono"/>
              </a:rPr>
              <a:t>sql-forge-web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76207" y="914400"/>
            <a:ext cx="2743200" cy="457200"/>
          </a:xfrm>
          <a:prstGeom prst="roundRect">
            <a:avLst/>
          </a:prstGeom>
          <a:solidFill>
            <a:srgbClr val="6B4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76207" y="960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JetBrains Mono"/>
              </a:rPr>
              <a:t>sql-forge-mcp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6567" y="1645920"/>
            <a:ext cx="3657600" cy="128016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6567" y="2011680"/>
            <a:ext cx="3657600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9E0B"/>
                </a:solidFill>
                <a:latin typeface="阿里巴巴普惠体 3.0"/>
              </a:rPr>
              <a:t>🔌 JSON CRUD 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67047" y="1645920"/>
            <a:ext cx="3657600" cy="128016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67047" y="2011680"/>
            <a:ext cx="3657600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9E0B"/>
                </a:solidFill>
                <a:latin typeface="阿里巴巴普惠体 3.0"/>
              </a:rPr>
              <a:t>🌐 Calcite 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07527" y="1645920"/>
            <a:ext cx="3657600" cy="128016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07527" y="2011680"/>
            <a:ext cx="3657600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9E0B"/>
                </a:solidFill>
                <a:latin typeface="阿里巴巴普惠体 3.0"/>
              </a:rPr>
              <a:t>🔒 MCP 5 受限 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6567" y="3108960"/>
            <a:ext cx="365760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6567" y="3474720"/>
            <a:ext cx="3657600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7396"/>
                </a:solidFill>
                <a:latin typeface="阿里巴巴普惠体 3.0"/>
              </a:rPr>
              <a:t>🎨 Amis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67047" y="3108960"/>
            <a:ext cx="365760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67047" y="3474720"/>
            <a:ext cx="3657600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7396"/>
                </a:solidFill>
                <a:latin typeface="阿里巴巴普惠体 3.0"/>
              </a:rPr>
              <a:t>🏗️ 实体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07527" y="3108960"/>
            <a:ext cx="365760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07527" y="3474720"/>
            <a:ext cx="3657600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7396"/>
                </a:solidFill>
                <a:latin typeface="阿里巴巴普惠体 3.0"/>
              </a:rPr>
              <a:t>🛡️ 零直连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9436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9E0B"/>
                </a:solidFill>
                <a:latin typeface="阿里巴巴普惠体 3.0"/>
              </a:rPr>
              <a:t>★ AI 通过 5 个受限通道安全对话业务库,数据不出企业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4" nodeType="withEffect" dur="500" begin="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6" nodeType="withEffect" dur="500" begin="2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8" nodeType="withEffect" dur="500" begin="4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0" nodeType="withEffect" dur="500" begin="6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2" nodeType="withEffect" dur="500" begin="1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4" nodeType="withEffect" dur="500" begin="12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6" nodeType="withEffect" dur="500" begin="14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8" nodeType="withEffect" dur="500" begin="16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20" nodeType="withEffect" dur="500" begin="18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22" nodeType="withEffect" dur="500" begin="2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2" nodeType="withEffect" dur="1500" begin="15000ms" fill="hold" repeatCount="indefinite">
              <p:animEffect presetClass="emph" presetId="26" dur="1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4" nodeType="withEffect" dur="1500" begin="17000ms" fill="hold" repeatCount="indefinite">
              <p:animEffect presetClass="emph" presetId="26" dur="1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6" nodeType="withEffect" dur="1500" begin="19000ms" fill="hold" repeatCount="indefinite">
              <p:animEffect presetClass="emph" presetId="26" dur="1500"/>
            </p:cTn>
          </p:par>
        </p:par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4864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F2937"/>
                </a:solidFill>
                <a:latin typeface="阿里巴巴普惠体 3.0"/>
              </a:rPr>
              <a:t>演示 1 · 一句话出分析报告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6B7280"/>
                </a:solidFill>
                <a:latin typeface="阿里巴巴普惠体 3.0"/>
              </a:rPr>
              <a:t>"上个月各品类销量怎么样?"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5207" y="2286000"/>
            <a:ext cx="1828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520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B7280"/>
                </a:solidFill>
                <a:latin typeface="Inter"/>
              </a:rPr>
              <a:t>S1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520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B7280"/>
                </a:solidFill>
                <a:latin typeface="阿里巴巴普惠体 3.0"/>
              </a:rPr>
              <a:t>👤 用户提问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78327" y="2286000"/>
            <a:ext cx="1828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3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7832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396"/>
                </a:solidFill>
                <a:latin typeface="Inter"/>
              </a:rPr>
              <a:t>S2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7832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396"/>
                </a:solidFill>
                <a:latin typeface="阿里巴巴普惠体 3.0"/>
              </a:rPr>
              <a:t>🧠 NL2SQL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81447" y="2286000"/>
            <a:ext cx="1828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3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8144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396"/>
                </a:solidFill>
                <a:latin typeface="Inter"/>
              </a:rPr>
              <a:t>S3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8144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396"/>
                </a:solidFill>
                <a:latin typeface="阿里巴巴普惠体 3.0"/>
              </a:rPr>
              <a:t>📊 读表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84567" y="2286000"/>
            <a:ext cx="1828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3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8456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396"/>
                </a:solidFill>
                <a:latin typeface="Inter"/>
              </a:rPr>
              <a:t>S4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456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396"/>
                </a:solidFill>
                <a:latin typeface="阿里巴巴普惠体 3.0"/>
              </a:rPr>
              <a:t>⚙️ 跨库 JOIN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87687" y="2286000"/>
            <a:ext cx="1828800" cy="2286000"/>
          </a:xfrm>
          <a:prstGeom prst="roundRect">
            <a:avLst/>
          </a:prstGeom>
          <a:solidFill>
            <a:srgbClr val="FEF3C7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8768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59E0B"/>
                </a:solidFill>
                <a:latin typeface="Inter"/>
              </a:rPr>
              <a:t>S5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8768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59E0B"/>
                </a:solidFill>
                <a:latin typeface="阿里巴巴普惠体 3.0"/>
              </a:rPr>
              <a:t>📄 报告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49727" y="3246120"/>
            <a:ext cx="182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Inter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52847" y="3246120"/>
            <a:ext cx="182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Inter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55967" y="3246120"/>
            <a:ext cx="182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Inter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59087" y="3246120"/>
            <a:ext cx="182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Inter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4864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B46C1"/>
                </a:solidFill>
                <a:latin typeface="阿里巴巴普惠体 3.0"/>
              </a:rPr>
              <a:t>▼ 接下来看 42 秒真实录屏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5" nodeType="withEffect" dur="500" begin="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8" nodeType="withEffect" dur="500" begin="1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1" nodeType="withEffect" dur="500" begin="2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4" nodeType="withEffect" dur="500" begin="3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7" nodeType="withEffect" dur="500" begin="4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7" nodeType="withEffect" dur="1500" begin="4500ms" fill="hold" repeatCount="indefinite">
              <p:animEffect presetClass="emph" presetId="26" dur="1500"/>
            </p:cTn>
          </p:par>
        </p:par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4864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F2937"/>
                </a:solidFill>
                <a:latin typeface="阿里巴巴普惠体 3.0"/>
              </a:rPr>
              <a:t>演示 2 · 一句话生成 CRUD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6B7280"/>
                </a:solidFill>
                <a:latin typeface="阿里巴巴普惠体 3.0"/>
              </a:rPr>
              <a:t>"做一个商品管理 CRUD 页面"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5207" y="2286000"/>
            <a:ext cx="1828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520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B7280"/>
                </a:solidFill>
                <a:latin typeface="Inter"/>
              </a:rPr>
              <a:t>S1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520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B7280"/>
                </a:solidFill>
                <a:latin typeface="阿里巴巴普惠体 3.0"/>
              </a:rPr>
              <a:t>👤 用户提问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78327" y="2286000"/>
            <a:ext cx="1828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B4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7832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B46C1"/>
                </a:solidFill>
                <a:latin typeface="Inter"/>
              </a:rPr>
              <a:t>S2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7832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B46C1"/>
                </a:solidFill>
                <a:latin typeface="阿里巴巴普惠体 3.0"/>
              </a:rPr>
              <a:t>🧠 web.st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81447" y="2286000"/>
            <a:ext cx="1828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B4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8144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B46C1"/>
                </a:solidFill>
                <a:latin typeface="Inter"/>
              </a:rPr>
              <a:t>S3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8144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B46C1"/>
                </a:solidFill>
                <a:latin typeface="阿里巴巴普惠体 3.0"/>
              </a:rPr>
              <a:t>📊 读表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84567" y="2286000"/>
            <a:ext cx="1828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B4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8456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B46C1"/>
                </a:solidFill>
                <a:latin typeface="Inter"/>
              </a:rPr>
              <a:t>S4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456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B46C1"/>
                </a:solidFill>
                <a:latin typeface="阿里巴巴普惠体 3.0"/>
              </a:rPr>
              <a:t>🔧 生成 Amis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87687" y="2286000"/>
            <a:ext cx="1828800" cy="2286000"/>
          </a:xfrm>
          <a:prstGeom prst="roundRect">
            <a:avLst/>
          </a:prstGeom>
          <a:solidFill>
            <a:srgbClr val="FEF3C7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8768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59E0B"/>
                </a:solidFill>
                <a:latin typeface="Inter"/>
              </a:rPr>
              <a:t>S5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8768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59E0B"/>
                </a:solidFill>
                <a:latin typeface="阿里巴巴普惠体 3.0"/>
              </a:rPr>
              <a:t>🌐 URL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49727" y="3246120"/>
            <a:ext cx="182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Inter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52847" y="3246120"/>
            <a:ext cx="182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Inter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55967" y="3246120"/>
            <a:ext cx="182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Inter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59087" y="3246120"/>
            <a:ext cx="182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Inter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4864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B46C1"/>
                </a:solidFill>
                <a:latin typeface="阿里巴巴普惠体 3.0"/>
              </a:rPr>
              <a:t>▼ 接下来看 40 秒真实录屏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5" nodeType="withEffect" dur="500" begin="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8" nodeType="withEffect" dur="500" begin="1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1" nodeType="withEffect" dur="500" begin="2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4" nodeType="withEffect" dur="500" begin="3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7" nodeType="withEffect" dur="500" begin="4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7" nodeType="withEffect" dur="1500" begin="4500ms" fill="hold" repeatCount="indefinite">
              <p:animEffect presetClass="emph" presetId="26" dur="1500"/>
            </p:cTn>
          </p:par>
        </p:par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F2937"/>
                </a:solidFill>
                <a:latin typeface="阿里巴巴普惠体 3.0"/>
              </a:rPr>
              <a:t>实战测试 · 7 张表 / 0 漂移 / 节省 &gt;80%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7396"/>
                </a:solidFill>
                <a:latin typeface="阿里巴巴普惠体 3.0"/>
              </a:rPr>
              <a:t>技术派 · 4 项测试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F2937"/>
                </a:solidFill>
                <a:latin typeface="阿里巴巴普惠体 3.0"/>
              </a:rPr>
              <a:t>✓ 7 张表测试(简单/字典/自关联/多外键)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39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F2937"/>
                </a:solidFill>
                <a:latin typeface="阿里巴巴普惠体 3.0"/>
              </a:rPr>
              <a:t>✓ 0 漂移 / 0 错误链接 / 0 中文乱码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0175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F2937"/>
                </a:solidFill>
                <a:latin typeface="阿里巴巴普惠体 3.0"/>
              </a:rPr>
              <a:t>✓ 5/5 AI 字段推断自检通过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657599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59E0B"/>
                </a:solidFill>
                <a:latin typeface="阿里巴巴普惠体 3.0"/>
              </a:rPr>
              <a:t>✓ 节省 CRUD 开发时间 &gt;80%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188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B46C1"/>
                </a:solidFill>
                <a:latin typeface="阿里巴巴普惠体 3.0"/>
              </a:rPr>
              <a:t>商业派 · 5 项对比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737360"/>
            <a:ext cx="5029200" cy="411480"/>
          </a:xfrm>
          <a:prstGeom prst="rect">
            <a:avLst/>
          </a:prstGeom>
          <a:solidFill>
            <a:srgbClr val="D1FAE5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17830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F2937"/>
                </a:solidFill>
                <a:latin typeface="阿里巴巴普惠体 3.0"/>
              </a:rPr>
              <a:t>业务取数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0" y="17830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0B981"/>
                </a:solidFill>
                <a:latin typeface="Inter"/>
              </a:rPr>
              <a:t>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2194560"/>
            <a:ext cx="50292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22402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F2937"/>
                </a:solidFill>
                <a:latin typeface="阿里巴巴普惠体 3.0"/>
              </a:rPr>
              <a:t>CRUD 页面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0" y="22402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0B981"/>
                </a:solidFill>
                <a:latin typeface="Inter"/>
              </a:rPr>
              <a:t>✓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2651760"/>
            <a:ext cx="5029200" cy="411480"/>
          </a:xfrm>
          <a:prstGeom prst="rect">
            <a:avLst/>
          </a:prstGeom>
          <a:solidFill>
            <a:srgbClr val="D1FAE5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26974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F2937"/>
                </a:solidFill>
                <a:latin typeface="阿里巴巴普惠体 3.0"/>
              </a:rPr>
              <a:t>跨库 JOIN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0" y="26974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0B981"/>
                </a:solidFill>
                <a:latin typeface="Inter"/>
              </a:rPr>
              <a:t>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3108960"/>
            <a:ext cx="50292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31546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F2937"/>
                </a:solidFill>
                <a:latin typeface="阿里巴巴普惠体 3.0"/>
              </a:rPr>
              <a:t>私有化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0" y="31546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0B981"/>
                </a:solidFill>
                <a:latin typeface="Inter"/>
              </a:rPr>
              <a:t>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3566160"/>
            <a:ext cx="5029200" cy="411480"/>
          </a:xfrm>
          <a:prstGeom prst="rect">
            <a:avLst/>
          </a:prstGeom>
          <a:solidFill>
            <a:srgbClr val="D1FAE5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36118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F2937"/>
                </a:solidFill>
                <a:latin typeface="阿里巴巴普惠体 3.0"/>
              </a:rPr>
              <a:t>列名识别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0" y="36118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0B981"/>
                </a:solidFill>
                <a:latin typeface="Inter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4864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阿里巴巴普惠体 3.0"/>
              </a:rPr>
              <a:t>★ JavaBrain 在 安全 + 智能 + 私有化 三角都做到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5" nodeType="withEffect" dur="500" begin="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6" nodeType="withEffect" dur="500" begin="6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7" nodeType="withEffect" dur="500" begin="12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8" nodeType="withEffect" dur="500" begin="18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1" nodeType="withEffect" dur="500" begin="3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4" nodeType="withEffect" dur="500" begin="37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7" nodeType="withEffect" dur="500" begin="44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20" nodeType="withEffect" dur="500" begin="51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23" nodeType="withEffect" dur="500" begin="58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8" nodeType="withEffect" dur="1500" begin="12000ms" fill="hold" repeatCount="indefinite">
              <p:animEffect presetClass="emph" presetId="26" dur="1500"/>
            </p:cTn>
          </p:par>
        </p:par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F2937"/>
                </a:solidFill>
                <a:latin typeface="阿里巴巴普惠体 3.0"/>
              </a:rPr>
              <a:t>JavaBrain 未来 12 个月路线图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6012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7396"/>
                </a:solidFill>
                <a:latin typeface="阿里巴巴普惠体 3.0"/>
              </a:rPr>
              <a:t>灵梭 · AI 赋能中心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463040"/>
            <a:ext cx="566928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73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396"/>
                </a:solidFill>
                <a:latin typeface="阿里巴巴普惠体 3.0"/>
              </a:rPr>
              <a:t>1. Agentic Workflow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4708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阿里巴巴普惠体 3.0"/>
              </a:rPr>
              <a:t>智能体工作流:自动拆解 + 多步推理 + 反思重试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2331720"/>
            <a:ext cx="566928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73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377439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396"/>
                </a:solidFill>
                <a:latin typeface="阿里巴巴普惠体 3.0"/>
              </a:rPr>
              <a:t>2. Graph-RAG + 实时认知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71576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阿里巴巴普惠体 3.0"/>
              </a:rPr>
              <a:t>知识图谱融合 + 毫秒级增量更新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3200400"/>
            <a:ext cx="566928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73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2461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396"/>
                </a:solidFill>
                <a:latin typeface="阿里巴巴普惠体 3.0"/>
              </a:rPr>
              <a:t>3. 多模态交互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58444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阿里巴巴普惠体 3.0"/>
              </a:rPr>
              <a:t>语音 / 图像 / AI 悬浮球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" y="4069079"/>
            <a:ext cx="566928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73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114799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396"/>
                </a:solidFill>
                <a:latin typeface="阿里巴巴普惠体 3.0"/>
              </a:rPr>
              <a:t>4. Skill 插件生态市场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453127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阿里巴巴普惠体 3.0"/>
              </a:rPr>
              <a:t>标准化打包 + 私有 Skill 市场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8095" y="96012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B46C1"/>
                </a:solidFill>
                <a:latin typeface="阿里巴巴普惠体 3.0"/>
              </a:rPr>
              <a:t>SQL工坊 · 数据管理引擎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8095" y="1463040"/>
            <a:ext cx="566928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B4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0975" y="15087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B46C1"/>
                </a:solidFill>
                <a:latin typeface="阿里巴巴普惠体 3.0"/>
              </a:rPr>
              <a:t>1. Text-to-SQL 终极形态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0975" y="184708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阿里巴巴普惠体 3.0"/>
              </a:rPr>
              <a:t>准确率 &gt;95% + 本地代码大模型 + Explain 优化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48095" y="2331720"/>
            <a:ext cx="566928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B4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30975" y="2377439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B46C1"/>
                </a:solidFill>
                <a:latin typeface="阿里巴巴普惠体 3.0"/>
              </a:rPr>
              <a:t>2. HTAP 湖仓一体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30975" y="271576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阿里巴巴普惠体 3.0"/>
              </a:rPr>
              <a:t>Flink 实时流 + Iceberg / Hudi 湖仓格式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48095" y="3200400"/>
            <a:ext cx="566928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B4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30975" y="32461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B46C1"/>
                </a:solidFill>
                <a:latin typeface="阿里巴巴普惠体 3.0"/>
              </a:rPr>
              <a:t>3. 智能数据治理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0975" y="358444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阿里巴巴普惠体 3.0"/>
              </a:rPr>
              <a:t>血缘分析 + 动态脱敏 + 自动化审计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48095" y="4069079"/>
            <a:ext cx="566928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B4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30975" y="4114799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B46C1"/>
                </a:solidFill>
                <a:latin typeface="阿里巴巴普惠体 3.0"/>
              </a:rPr>
              <a:t>4. Serverless 弹性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30975" y="4453127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阿里巴巴普惠体 3.0"/>
              </a:rPr>
              <a:t>计算/存储分离 + 自动扩缩容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828800" y="5120640"/>
            <a:ext cx="8534095" cy="32004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828800" y="5138927"/>
            <a:ext cx="8534095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59E0B"/>
                </a:solidFill>
                <a:latin typeface="阿里巴巴普惠体 3.0"/>
              </a:rPr>
              <a:t>★ 让 AI 懂数据,让数据懂 AI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828800" y="5504688"/>
            <a:ext cx="8534095" cy="32004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828800" y="5522975"/>
            <a:ext cx="8534095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59E0B"/>
                </a:solidFill>
                <a:latin typeface="阿里巴巴普惠体 3.0"/>
              </a:rPr>
              <a:t>★ 终极形态:对话式数据分析 (CDA) 标杆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828800" y="5888736"/>
            <a:ext cx="8534095" cy="32004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828800" y="5907023"/>
            <a:ext cx="8534095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59E0B"/>
                </a:solidFill>
                <a:latin typeface="阿里巴巴普惠体 3.0"/>
              </a:rPr>
              <a:t>★ 零代码 AI 应用工厂 (Amis + Skill 绑定)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3" nodeType="withEffect" dur="500" begin="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5" nodeType="withEffect" dur="500" begin="4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8" nodeType="withEffect" dur="500" begin="6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1" nodeType="withEffect" dur="500" begin="8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4" nodeType="withEffect" dur="500" begin="1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8" nodeType="withEffect" dur="500" begin="12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21" nodeType="withEffect" dur="500" begin="14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24" nodeType="withEffect" dur="500" begin="16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27" nodeType="withEffect" dur="500" begin="18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30" nodeType="withEffect" dur="500" begin="2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32" nodeType="withEffect" dur="500" begin="23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34" nodeType="withEffect" dur="500" begin="26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32" nodeType="withEffect" dur="1500" begin="3500ms" fill="hold" repeatCount="indefinite">
              <p:animEffect presetClass="emph" presetId="26" dur="1500"/>
            </p:cTn>
          </p:par>
        </p:par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4864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1F2937"/>
                </a:solidFill>
                <a:latin typeface="Inter"/>
              </a:rPr>
              <a:t>JavaBrain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1F2937"/>
                </a:solidFill>
                <a:latin typeface="阿里巴巴普惠体 3.0"/>
              </a:rPr>
              <a:t>1. 开箱即用 + 私有化 + 业务语义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1F2937"/>
                </a:solidFill>
                <a:latin typeface="阿里巴巴普惠体 3.0"/>
              </a:rPr>
              <a:t>2. 一行命令启动,一个文件改 AI 行为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1F2937"/>
                </a:solidFill>
                <a:latin typeface="阿里巴巴普惠体 3.0"/>
              </a:rPr>
              <a:t>3. 让每个 Spring Boot 项目都自带 AI 能力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0" y="3840480"/>
            <a:ext cx="7619695" cy="640080"/>
          </a:xfrm>
          <a:prstGeom prst="roundRect">
            <a:avLst/>
          </a:prstGeom>
          <a:solidFill>
            <a:srgbClr val="FEF3C7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86000" y="3886200"/>
            <a:ext cx="76196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阿里巴巴普惠体 3.0"/>
              </a:rPr>
              <a:t>★ 让 AI 懂数据,让数据懂 AI — 打造对话式数据分析标杆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0" y="4754880"/>
            <a:ext cx="7619695" cy="5486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0" y="4800600"/>
            <a:ext cx="7619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0B981"/>
                </a:solidFill>
                <a:latin typeface="JetBrains Mono"/>
              </a:rPr>
              <a:t>$ Started LoomAgentApplication in 25.394 seconds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57784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JetBrains Mono"/>
              </a:rPr>
              <a:t>github.com/wb04307201/spring-ai-loom-agent  ·  gitee.com/wb04307201/spring-ai-loom-agent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126480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阿里巴巴普惠体 3.0"/>
              </a:rPr>
              <a:t>感谢 [团队名] · 联系: [邮箱]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3" nodeType="withEffect" dur="500" begin="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4" nodeType="withEffect" dur="500" begin="6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5" nodeType="withEffect" dur="500" begin="12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6" nodeType="withEffect" dur="500" begin="18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7" nodeType="withEffect" dur="1500" begin="6000ms" fill="hold" repeatCount="indefinite">
              <p:animEffect presetClass="emph" presetId="26" dur="1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9" nodeType="withEffect" dur="500" begin="10000ms" fill="hold">
              <p:animEffect presetClass="entr" presetId="10" dur="500"/>
            </p:cTn>
          </p:par>
        </p:par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