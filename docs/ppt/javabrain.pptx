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1v2-d1-brain-3streams.png"/>
          <p:cNvPicPr>
            <a:picLocks noChangeAspect="1"/>
          </p:cNvPicPr>
          <p:nvPr/>
        </p:nvPicPr>
        <p:blipFill>
          <a:blip r:embed="rId2">
            <a:alphaModFix amt="38000"/>
          </a:blip>
          <a:stretch>
            <a:fillRect/>
          </a:stretch>
        </p:blipFill>
        <p:spPr>
          <a:xfrm>
            <a:off x="2743200" y="91440"/>
            <a:ext cx="6858000" cy="3017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3200400"/>
            <a:ext cx="1036289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1">
                <a:solidFill>
                  <a:srgbClr val="1F2937"/>
                </a:solidFill>
                <a:latin typeface="Inter"/>
              </a:rPr>
              <a:t>JavaBrain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480560"/>
            <a:ext cx="103628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>
                <a:solidFill>
                  <a:srgbClr val="6B7280"/>
                </a:solidFill>
                <a:latin typeface="阿里巴巴普惠体 3.0"/>
              </a:rPr>
              <a:t>让您的系统瞬间拥有“思考”与“执行”的智能大脑</a:t>
            </a:r>
          </a:p>
        </p:txBody>
      </p:sp>
      <p:sp>
        <p:nvSpPr>
          <p:cNvPr id="5" name="Oval 4"/>
          <p:cNvSpPr/>
          <p:nvPr/>
        </p:nvSpPr>
        <p:spPr>
          <a:xfrm>
            <a:off x="3200400" y="5120640"/>
            <a:ext cx="164592" cy="164592"/>
          </a:xfrm>
          <a:prstGeom prst="ellipse">
            <a:avLst/>
          </a:prstGeom>
          <a:solidFill>
            <a:srgbClr val="0073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639104" y="5120640"/>
            <a:ext cx="164592" cy="164592"/>
          </a:xfrm>
          <a:prstGeom prst="ellipse">
            <a:avLst/>
          </a:prstGeom>
          <a:solidFill>
            <a:srgbClr val="6B4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076895" y="5120640"/>
            <a:ext cx="164592" cy="16459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29000" y="5056631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396"/>
                </a:solidFill>
                <a:latin typeface="阿里巴巴普惠体 3.0"/>
              </a:rPr>
              <a:t>灵梭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67704" y="5056631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6B46C1"/>
                </a:solidFill>
                <a:latin typeface="阿里巴巴普惠体 3.0"/>
              </a:rPr>
              <a:t>SQL工坊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05495" y="5056631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0B981"/>
                </a:solidFill>
                <a:latin typeface="阿里巴巴普惠体 3.0"/>
              </a:rPr>
              <a:t>SQL工坊 MCP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0" y="5852160"/>
            <a:ext cx="4876495" cy="54864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0" y="5897880"/>
            <a:ext cx="48764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阿里巴巴普惠体 3.0"/>
              </a:rPr>
              <a:t>3 分钟接入 AI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Inter"/>
              </a:rPr>
              <a:t>01 / 12</a:t>
            </a:r>
          </a:p>
        </p:txBody>
      </p:sp>
    </p:spTree>
  </p:cSld>
  <p:clrMapOvr>
    <a:masterClrMapping/>
  </p:clrMapOvr>
  <p:timing>
    <p:tnLst>
      <p:par>
        <p:pPr/>
        <p:par>
          <p:cond>
            <p:tnCond val="0"/>
          </p:cond>
          <p:par>
            <p:cTn id="4" nodeType="withEffect" dur="500" begin="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5" nodeType="withEffect" dur="500" begin="4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6" nodeType="withEffect" dur="500" begin="8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9" nodeType="withEffect" dur="500" begin="10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2" nodeType="withEffect" dur="500" begin="1400ms" fill="hold">
              <p:animEffect presetClass="entr" presetId="10" dur="500"/>
            </p:cTn>
          </p:par>
        </p:par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1F2937"/>
                </a:solidFill>
                <a:latin typeface="阿里巴巴普惠体 3.0"/>
              </a:rPr>
              <a:t>接入 AI 的 3 个痛点  vs  JavaBrain 的 3 个解法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904" y="3657600"/>
            <a:ext cx="10972800" cy="5486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9904" y="3657600"/>
            <a:ext cx="5486400" cy="54864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959144" y="3657600"/>
            <a:ext cx="1371600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096304" y="3657600"/>
            <a:ext cx="5486400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p2-red-1-overwo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" y="1280160"/>
            <a:ext cx="1097280" cy="1097280"/>
          </a:xfrm>
          <a:prstGeom prst="rect">
            <a:avLst/>
          </a:prstGeom>
        </p:spPr>
      </p:pic>
      <p:sp>
        <p:nvSpPr>
          <p:cNvPr id="8" name="Oval 7"/>
          <p:cNvSpPr/>
          <p:nvPr/>
        </p:nvSpPr>
        <p:spPr>
          <a:xfrm>
            <a:off x="500176" y="3575304"/>
            <a:ext cx="219456" cy="219456"/>
          </a:xfrm>
          <a:prstGeom prst="ellipse">
            <a:avLst/>
          </a:prstGeom>
          <a:solidFill>
            <a:srgbClr val="DC2626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-30175" y="3931920"/>
            <a:ext cx="128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DC2626"/>
                </a:solidFill>
                <a:latin typeface="Inter"/>
              </a:rPr>
              <a:t>3 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-121615" y="45262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阿里巴巴普惠体 3.0"/>
              </a:rPr>
              <a:t>集成 AI</a:t>
            </a:r>
          </a:p>
        </p:txBody>
      </p:sp>
      <p:pic>
        <p:nvPicPr>
          <p:cNvPr id="11" name="Picture 10" descr="p2-red-2-bureaucrac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5824" y="1280160"/>
            <a:ext cx="1097280" cy="1097280"/>
          </a:xfrm>
          <a:prstGeom prst="rect">
            <a:avLst/>
          </a:prstGeom>
        </p:spPr>
      </p:pic>
      <p:sp>
        <p:nvSpPr>
          <p:cNvPr id="12" name="Oval 11"/>
          <p:cNvSpPr/>
          <p:nvPr/>
        </p:nvSpPr>
        <p:spPr>
          <a:xfrm>
            <a:off x="2694736" y="3575304"/>
            <a:ext cx="219456" cy="219456"/>
          </a:xfrm>
          <a:prstGeom prst="ellipse">
            <a:avLst/>
          </a:prstGeom>
          <a:solidFill>
            <a:srgbClr val="DC2626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64384" y="3931920"/>
            <a:ext cx="128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DC2626"/>
                </a:solidFill>
                <a:latin typeface="Inter"/>
              </a:rPr>
              <a:t>5 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72944" y="45262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阿里巴巴普惠体 3.0"/>
              </a:rPr>
              <a:t>训练数据</a:t>
            </a:r>
          </a:p>
        </p:txBody>
      </p:sp>
      <p:pic>
        <p:nvPicPr>
          <p:cNvPr id="15" name="Picture 14" descr="p2-red-3-tangl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50384" y="1280160"/>
            <a:ext cx="1097280" cy="1097280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4889296" y="3575304"/>
            <a:ext cx="219456" cy="219456"/>
          </a:xfrm>
          <a:prstGeom prst="ellipse">
            <a:avLst/>
          </a:prstGeom>
          <a:solidFill>
            <a:srgbClr val="DC2626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58944" y="3931920"/>
            <a:ext cx="128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DC2626"/>
                </a:solidFill>
                <a:latin typeface="Inter"/>
              </a:rPr>
              <a:t>3 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67504" y="45262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阿里巴巴普惠体 3.0"/>
              </a:rPr>
              <a:t>上线联调</a:t>
            </a:r>
          </a:p>
        </p:txBody>
      </p:sp>
      <p:pic>
        <p:nvPicPr>
          <p:cNvPr id="19" name="Picture 18" descr="p2-green-3-dashboar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44944" y="1280160"/>
            <a:ext cx="1097280" cy="1097280"/>
          </a:xfrm>
          <a:prstGeom prst="rect">
            <a:avLst/>
          </a:prstGeom>
        </p:spPr>
      </p:pic>
      <p:sp>
        <p:nvSpPr>
          <p:cNvPr id="20" name="Oval 19"/>
          <p:cNvSpPr/>
          <p:nvPr/>
        </p:nvSpPr>
        <p:spPr>
          <a:xfrm>
            <a:off x="7083856" y="3575304"/>
            <a:ext cx="219456" cy="219456"/>
          </a:xfrm>
          <a:prstGeom prst="ellipse">
            <a:avLst/>
          </a:prstGeom>
          <a:solidFill>
            <a:srgbClr val="10B981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53504" y="3931920"/>
            <a:ext cx="128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10B981"/>
                </a:solidFill>
                <a:latin typeface="Inter"/>
              </a:rPr>
              <a:t>3 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62064" y="45262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阿里巴巴普惠体 3.0"/>
              </a:rPr>
              <a:t>一键集成</a:t>
            </a:r>
          </a:p>
        </p:txBody>
      </p:sp>
      <p:pic>
        <p:nvPicPr>
          <p:cNvPr id="23" name="Picture 22" descr="p2-green-2-rocke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39504" y="1280160"/>
            <a:ext cx="1097280" cy="1097280"/>
          </a:xfrm>
          <a:prstGeom prst="rect">
            <a:avLst/>
          </a:prstGeom>
        </p:spPr>
      </p:pic>
      <p:sp>
        <p:nvSpPr>
          <p:cNvPr id="24" name="Oval 23"/>
          <p:cNvSpPr/>
          <p:nvPr/>
        </p:nvSpPr>
        <p:spPr>
          <a:xfrm>
            <a:off x="9278416" y="3575304"/>
            <a:ext cx="219456" cy="219456"/>
          </a:xfrm>
          <a:prstGeom prst="ellipse">
            <a:avLst/>
          </a:prstGeom>
          <a:solidFill>
            <a:srgbClr val="10B981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748064" y="3931920"/>
            <a:ext cx="128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10B981"/>
                </a:solidFill>
                <a:latin typeface="Inter"/>
              </a:rPr>
              <a:t>90 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56624" y="45262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阿里巴巴普惠体 3.0"/>
              </a:rPr>
              <a:t>出报告</a:t>
            </a:r>
          </a:p>
        </p:txBody>
      </p:sp>
      <p:pic>
        <p:nvPicPr>
          <p:cNvPr id="27" name="Picture 26" descr="p2-green-1-fina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034064" y="1280160"/>
            <a:ext cx="1097280" cy="1097280"/>
          </a:xfrm>
          <a:prstGeom prst="rect">
            <a:avLst/>
          </a:prstGeom>
        </p:spPr>
      </p:pic>
      <p:sp>
        <p:nvSpPr>
          <p:cNvPr id="28" name="Oval 27"/>
          <p:cNvSpPr/>
          <p:nvPr/>
        </p:nvSpPr>
        <p:spPr>
          <a:xfrm>
            <a:off x="11472976" y="3575304"/>
            <a:ext cx="219456" cy="219456"/>
          </a:xfrm>
          <a:prstGeom prst="ellipse">
            <a:avLst/>
          </a:prstGeom>
          <a:solidFill>
            <a:srgbClr val="10B981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942624" y="3931920"/>
            <a:ext cx="128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10B981"/>
                </a:solidFill>
                <a:latin typeface="Inter"/>
              </a:rPr>
              <a:t>10 分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851184" y="45262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阿里巴巴普惠体 3.0"/>
              </a:rPr>
              <a:t>出页面</a:t>
            </a:r>
          </a:p>
        </p:txBody>
      </p:sp>
      <p:sp>
        <p:nvSpPr>
          <p:cNvPr id="31" name="Oval 30"/>
          <p:cNvSpPr/>
          <p:nvPr/>
        </p:nvSpPr>
        <p:spPr>
          <a:xfrm>
            <a:off x="5593384" y="3154680"/>
            <a:ext cx="1005840" cy="1005840"/>
          </a:xfrm>
          <a:prstGeom prst="ellipse">
            <a:avLst/>
          </a:prstGeom>
          <a:solidFill>
            <a:srgbClr val="FEF3C7"/>
          </a:solidFill>
          <a:ln w="381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547664" y="342900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59E0B"/>
                </a:solidFill>
                <a:latin typeface="Inter"/>
              </a:rPr>
              <a:t>1440×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56224" y="3822191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59E0B"/>
                </a:solidFill>
                <a:latin typeface="阿里巴巴普惠体 3.0"/>
              </a:rPr>
              <a:t>效率提升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00400" y="5760720"/>
            <a:ext cx="5790895" cy="640080"/>
          </a:xfrm>
          <a:prstGeom prst="roundRect">
            <a:avLst/>
          </a:prstGeom>
          <a:solidFill>
            <a:srgbClr val="FEF3C7"/>
          </a:solidFill>
          <a:ln w="381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200400" y="5806440"/>
            <a:ext cx="57908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59E0B"/>
                </a:solidFill>
                <a:latin typeface="阿里巴巴普惠体 3.0"/>
              </a:rPr>
              <a:t>★ 3 月 vs 3 分 — 从季度到分钟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607040" y="6446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Inter"/>
              </a:rPr>
              <a:t>02 / 12</a:t>
            </a:r>
          </a:p>
        </p:txBody>
      </p:sp>
    </p:spTree>
  </p:cSld>
  <p:clrMapOvr>
    <a:masterClrMapping/>
  </p:clrMapOvr>
  <p:timing>
    <p:tnLst>
      <p:par>
        <p:pPr/>
        <p:par>
          <p:cond>
            <p:tnCond val="0"/>
          </p:cond>
          <p:par>
            <p:cTn id="8" nodeType="withEffect" dur="500" begin="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9" nodeType="withEffect" dur="500" begin="35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0" nodeType="withEffect" dur="500" begin="7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1" nodeType="withEffect" dur="500" begin="105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2" nodeType="withEffect" dur="500" begin="14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3" nodeType="withEffect" dur="500" begin="175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35" nodeType="withEffect" dur="1500" begin="3500ms" fill="hold" repeatCount="indefinite">
              <p:animEffect presetClass="emph" presetId="26" dur="1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32" nodeType="withEffect" dur="500" begin="2200ms" fill="hold">
              <p:animEffect presetClass="entr" presetId="10" dur="500"/>
            </p:cTn>
          </p:par>
        </p:par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F2937"/>
                </a:solidFill>
                <a:latin typeface="阿里巴巴普惠体 3.0"/>
              </a:rPr>
              <a:t>JavaBrain = 灵梭 + SQL工坊 + SQL工坊 MCP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312767" y="1371600"/>
            <a:ext cx="822960" cy="822960"/>
          </a:xfrm>
          <a:prstGeom prst="roundRect">
            <a:avLst/>
          </a:prstGeom>
          <a:solidFill>
            <a:srgbClr val="0073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395063" y="1305763"/>
            <a:ext cx="131673" cy="131673"/>
          </a:xfrm>
          <a:prstGeom prst="ellipse">
            <a:avLst/>
          </a:prstGeom>
          <a:solidFill>
            <a:srgbClr val="0073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576114" y="1305763"/>
            <a:ext cx="131673" cy="131673"/>
          </a:xfrm>
          <a:prstGeom prst="ellipse">
            <a:avLst/>
          </a:prstGeom>
          <a:solidFill>
            <a:srgbClr val="0073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4740706" y="1305763"/>
            <a:ext cx="131673" cy="131673"/>
          </a:xfrm>
          <a:prstGeom prst="ellipse">
            <a:avLst/>
          </a:prstGeom>
          <a:solidFill>
            <a:srgbClr val="0073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4921757" y="1305763"/>
            <a:ext cx="131673" cy="131673"/>
          </a:xfrm>
          <a:prstGeom prst="ellipse">
            <a:avLst/>
          </a:prstGeom>
          <a:solidFill>
            <a:srgbClr val="0073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38447" y="2240279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07396"/>
                </a:solidFill>
                <a:latin typeface="阿里巴巴普惠体 3.0"/>
              </a:rPr>
              <a:t>灵梭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84367" y="1371600"/>
            <a:ext cx="822960" cy="822960"/>
          </a:xfrm>
          <a:prstGeom prst="roundRect">
            <a:avLst/>
          </a:prstGeom>
          <a:solidFill>
            <a:srgbClr val="6B4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766663" y="1305763"/>
            <a:ext cx="131673" cy="131673"/>
          </a:xfrm>
          <a:prstGeom prst="ellipse">
            <a:avLst/>
          </a:prstGeom>
          <a:solidFill>
            <a:srgbClr val="6B4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947714" y="1305763"/>
            <a:ext cx="131673" cy="131673"/>
          </a:xfrm>
          <a:prstGeom prst="ellipse">
            <a:avLst/>
          </a:prstGeom>
          <a:solidFill>
            <a:srgbClr val="6B4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12306" y="1305763"/>
            <a:ext cx="131673" cy="131673"/>
          </a:xfrm>
          <a:prstGeom prst="ellipse">
            <a:avLst/>
          </a:prstGeom>
          <a:solidFill>
            <a:srgbClr val="6B4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293357" y="1305763"/>
            <a:ext cx="131673" cy="131673"/>
          </a:xfrm>
          <a:prstGeom prst="ellipse">
            <a:avLst/>
          </a:prstGeom>
          <a:solidFill>
            <a:srgbClr val="6B4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10047" y="2240279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6B46C1"/>
                </a:solidFill>
                <a:latin typeface="阿里巴巴普惠体 3.0"/>
              </a:rPr>
              <a:t>SQL工坊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055967" y="1371600"/>
            <a:ext cx="822960" cy="82296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138263" y="1305763"/>
            <a:ext cx="131673" cy="131673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9314" y="1305763"/>
            <a:ext cx="131673" cy="131673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483906" y="1305763"/>
            <a:ext cx="131673" cy="131673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664958" y="1305763"/>
            <a:ext cx="131673" cy="131673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81647" y="2240279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0B981"/>
                </a:solidFill>
                <a:latin typeface="阿里巴巴普惠体 3.0"/>
              </a:rPr>
              <a:t>SQL工坊 MCP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32004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59E0B"/>
                </a:solidFill>
                <a:latin typeface="阿里巴巴普惠体 3.0"/>
              </a:rPr>
              <a:t>✓ 灵梭:Spring Boot AI 加速器,零配置接入 RAG / MCP / Skill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370332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1F2937"/>
                </a:solidFill>
                <a:latin typeface="阿里巴巴普惠体 3.0"/>
              </a:rPr>
              <a:t>✓ SQL工坊:JSON CRUD + Calcite 联邦 + Amis 低代码,数据开发效率 +300%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420624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6B7280"/>
                </a:solidFill>
                <a:latin typeface="阿里巴巴普惠体 3.0"/>
              </a:rPr>
              <a:t>✓ SQL工坊 MCP:打通 AI ↔ 业务数据库,数据不出企业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470916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1F2937"/>
                </a:solidFill>
                <a:latin typeface="阿里巴巴普惠体 3.0"/>
              </a:rPr>
              <a:t>✓ 3 个依赖库可单独引入;SQL工坊还可单独服务对接外部项目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7040" y="6446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Inter"/>
              </a:rPr>
              <a:t>03 / 12</a:t>
            </a:r>
          </a:p>
        </p:txBody>
      </p:sp>
    </p:spTree>
  </p:cSld>
  <p:clrMapOvr>
    <a:masterClrMapping/>
  </p:clrMapOvr>
  <p:timing>
    <p:tnLst>
      <p:par>
        <p:pPr/>
        <p:par>
          <p:cond>
            <p:tnCond val="0"/>
          </p:cond>
          <p:par>
            <p:cTn id="3" nodeType="withEffect" dur="500" begin="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4" nodeType="withEffect" dur="500" begin="6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22" nodeType="withEffect" dur="500" begin="12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22" nodeType="withEffect" dur="1500" begin="2000ms" fill="hold" repeatCount="indefinite">
              <p:animEffect presetClass="emph" presetId="26" dur="1500"/>
            </p:cTn>
          </p:par>
        </p:par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0" name="Picture 19" descr="p4a-ai-orchestrate.png"/>
          <p:cNvPicPr>
            <a:picLocks noChangeAspect="1"/>
          </p:cNvPicPr>
          <p:nvPr/>
        </p:nvPicPr>
        <p:blipFill>
          <a:blip r:embed="rId2">
            <a:alphaModFix amt="100000"/>
          </a:blip>
          <a:stretch>
            <a:fillRect/>
          </a:stretch>
        </p:blipFill>
        <p:spPr>
          <a:xfrm>
            <a:off x="365760" y="4846320"/>
            <a:ext cx="2286000" cy="18288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457200" y="27432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07396"/>
                </a:solidFill>
                <a:latin typeface="Inter"/>
              </a:rPr>
              <a:t>灵梭 · LoomAgent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00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F2937"/>
                </a:solidFill>
                <a:latin typeface="阿里巴巴普惠体 3.0"/>
              </a:rPr>
              <a:t>从 Spring AI 裸用到 JavaBrain 一体化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59E0B"/>
                </a:solidFill>
                <a:latin typeface="阿里巴巴普惠体 3.0"/>
              </a:rPr>
              <a:t>★ 50 行配置 → 1 行模板,半年维护成本归零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5167" y="1828800"/>
            <a:ext cx="3383280" cy="2743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8047" y="1920240"/>
            <a:ext cx="12801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1">
                <a:solidFill>
                  <a:srgbClr val="E5E7EB"/>
                </a:solidFill>
                <a:latin typeface="Inter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8047" y="32004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E5E7EB"/>
                </a:solidFill>
                <a:latin typeface="阿里巴巴普惠体 3.0"/>
              </a:rPr>
              <a:t>裸 Spring 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8047" y="365760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B7280"/>
                </a:solidFill>
                <a:latin typeface="阿里巴巴普惠体 3.0"/>
              </a:rPr>
              <a:t>写 50 行</a:t>
            </a:r>
          </a:p>
          <a:p>
            <a:r>
              <a:t>ChatClient 配置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047" y="406908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E5E7EB"/>
                </a:solidFill>
                <a:latin typeface="阿里巴巴普惠体 3.0"/>
              </a:rPr>
              <a:t>5 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04207" y="1828800"/>
            <a:ext cx="3383280" cy="2743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73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87087" y="1920240"/>
            <a:ext cx="12801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1">
                <a:solidFill>
                  <a:srgbClr val="007396"/>
                </a:solidFill>
                <a:latin typeface="Inter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87087" y="32004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007396"/>
                </a:solidFill>
                <a:latin typeface="阿里巴巴普惠体 3.0"/>
              </a:rPr>
              <a:t>灵梭 starter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87087" y="365760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B7280"/>
                </a:solidFill>
                <a:latin typeface="阿里巴巴普惠体 3.0"/>
              </a:rPr>
              <a:t>1 个 @Bean</a:t>
            </a:r>
          </a:p>
          <a:p>
            <a:r>
              <a:t>完成 RAG + MCP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87087" y="406908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396"/>
                </a:solidFill>
                <a:latin typeface="阿里巴巴普惠体 3.0"/>
              </a:rPr>
              <a:t>1 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53247" y="1828800"/>
            <a:ext cx="3383280" cy="274320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36127" y="1920240"/>
            <a:ext cx="12801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1">
                <a:solidFill>
                  <a:srgbClr val="F59E0B"/>
                </a:solidFill>
                <a:latin typeface="Inter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6127" y="32004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59E0B"/>
                </a:solidFill>
                <a:latin typeface="阿里巴巴普惠体 3.0"/>
              </a:rPr>
              <a:t>.st 模板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36127" y="365760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B7280"/>
                </a:solidFill>
                <a:latin typeface="阿里巴巴普惠体 3.0"/>
              </a:rPr>
              <a:t>改 1 行字</a:t>
            </a:r>
          </a:p>
          <a:p>
            <a:r>
              <a:t>AI 行为变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36127" y="406908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59E0B"/>
                </a:solidFill>
                <a:latin typeface="阿里巴巴普惠体 3.0"/>
              </a:rPr>
              <a:t>10 分钟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7040" y="6446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Inter"/>
              </a:rPr>
              <a:t>04 / 12</a:t>
            </a:r>
          </a:p>
        </p:txBody>
      </p:sp>
    </p:spTree>
  </p:cSld>
  <p:clrMapOvr>
    <a:masterClrMapping/>
  </p:clrMapOvr>
  <p:timing>
    <p:tnLst>
      <p:par>
        <p:pPr/>
        <p:par>
          <p:cond>
            <p:tnCond val="0"/>
          </p:cond>
          <p:par>
            <p:cTn id="4" nodeType="withEffect" dur="500" begin="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6" nodeType="withEffect" dur="500" begin="4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0" nodeType="withEffect" dur="500" begin="4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1" nodeType="withEffect" dur="500" begin="7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5" nodeType="withEffect" dur="500" begin="7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6" nodeType="withEffect" dur="500" begin="10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20" nodeType="withEffect" dur="500" begin="10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6" nodeType="withEffect" dur="1500" begin="2000ms" fill="hold" repeatCount="indefinite">
              <p:animEffect presetClass="emph" presetId="26" dur="1500"/>
            </p:cTn>
          </p:par>
        </p:par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F2937"/>
                </a:solidFill>
                <a:latin typeface="阿里巴巴普惠体 3.0"/>
              </a:rPr>
              <a:t>灵梭 · 6 大功能模块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26567" y="1188720"/>
            <a:ext cx="365760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26567" y="137160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007396"/>
                </a:solidFill>
                <a:latin typeface="阿里巴巴普惠体 3.0"/>
              </a:rPr>
              <a:t>📚 RAG 知识库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6567" y="20116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阿里巴巴普惠体 3.0"/>
              </a:rPr>
              <a:t>Tika + JVector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67047" y="1188720"/>
            <a:ext cx="3657600" cy="164592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67047" y="137160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59E0B"/>
                </a:solidFill>
                <a:latin typeface="阿里巴巴普惠体 3.0"/>
              </a:rPr>
              <a:t>🔧 MCP 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67047" y="20116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阿里巴巴普惠体 3.0"/>
              </a:rPr>
              <a:t>8+ 服务可热插拔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07527" y="1188720"/>
            <a:ext cx="3657600" cy="164592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07527" y="137160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59E0B"/>
                </a:solidFill>
                <a:latin typeface="阿里巴巴普惠体 3.0"/>
              </a:rPr>
              <a:t>🧠 Skill 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07527" y="20116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阿里巴巴普惠体 3.0"/>
              </a:rPr>
              <a:t>.st 模板即提示词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6567" y="3017520"/>
            <a:ext cx="365760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6567" y="320040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007396"/>
                </a:solidFill>
                <a:latin typeface="阿里巴巴普惠体 3.0"/>
              </a:rPr>
              <a:t>📁 文件管理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6567" y="38404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阿里巴巴普惠体 3.0"/>
              </a:rPr>
              <a:t>磁盘 + H2 元数据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67047" y="3017520"/>
            <a:ext cx="365760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67047" y="320040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007396"/>
                </a:solidFill>
                <a:latin typeface="阿里巴巴普惠体 3.0"/>
              </a:rPr>
              <a:t>💬 对话 UI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67047" y="38404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阿里巴巴普惠体 3.0"/>
              </a:rPr>
              <a:t>SSE + 思维链折叠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07527" y="3017520"/>
            <a:ext cx="365760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07527" y="320040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007396"/>
                </a:solidFill>
                <a:latin typeface="阿里巴巴普惠体 3.0"/>
              </a:rPr>
              <a:t>🛠️ 内置工具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07527" y="38404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阿里巴巴普惠体 3.0"/>
              </a:rPr>
              <a:t>时间 / Git / Maven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59E0B"/>
                </a:solidFill>
                <a:latin typeface="阿里巴巴普惠体 3.0"/>
              </a:rPr>
              <a:t>★ 改一个 .st 文件,AI 行为就变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7040" y="6446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Inter"/>
              </a:rPr>
              <a:t>05 / 12</a:t>
            </a:r>
          </a:p>
        </p:txBody>
      </p:sp>
    </p:spTree>
  </p:cSld>
  <p:clrMapOvr>
    <a:masterClrMapping/>
  </p:clrMapOvr>
  <p:timing>
    <p:tnLst>
      <p:par>
        <p:pPr/>
        <p:par>
          <p:cond>
            <p:tnCond val="0"/>
          </p:cond>
          <p:par>
            <p:cTn id="4" nodeType="withEffect" dur="500" begin="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7" nodeType="withEffect" dur="500" begin="2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0" nodeType="withEffect" dur="500" begin="4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3" nodeType="withEffect" dur="500" begin="6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6" nodeType="withEffect" dur="500" begin="8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9" nodeType="withEffect" dur="500" begin="10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7" nodeType="withEffect" dur="1500" begin="10000ms" fill="hold" repeatCount="indefinite">
              <p:animEffect presetClass="emph" presetId="26" dur="1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0" nodeType="withEffect" dur="1500" begin="12000ms" fill="hold" repeatCount="indefinite">
              <p:animEffect presetClass="emph" presetId="26" dur="1500"/>
            </p:cTn>
          </p:par>
        </p:par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0" name="Picture 19" descr="p5a-calcite-federation.png"/>
          <p:cNvPicPr>
            <a:picLocks noChangeAspect="1"/>
          </p:cNvPicPr>
          <p:nvPr/>
        </p:nvPicPr>
        <p:blipFill>
          <a:blip r:embed="rId2">
            <a:alphaModFix amt="100000"/>
          </a:blip>
          <a:stretch>
            <a:fillRect/>
          </a:stretch>
        </p:blipFill>
        <p:spPr>
          <a:xfrm>
            <a:off x="365760" y="4846320"/>
            <a:ext cx="2286000" cy="18288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457200" y="27432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6B46C1"/>
                </a:solidFill>
                <a:latin typeface="Inter"/>
              </a:rPr>
              <a:t>SQL工坊 · SQL Forge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00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F2937"/>
                </a:solidFill>
                <a:latin typeface="阿里巴巴普惠体 3.0"/>
              </a:rPr>
              <a:t>从 JDBC 散弹到 Calcite 联邦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59E0B"/>
                </a:solidFill>
                <a:latin typeface="阿里巴巴普惠体 3.0"/>
              </a:rPr>
              <a:t>★ 1 套协议代替 5 套 ORM,数据库迁移零改代码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5167" y="1828800"/>
            <a:ext cx="3383280" cy="2743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8047" y="1920240"/>
            <a:ext cx="12801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1">
                <a:solidFill>
                  <a:srgbClr val="E5E7EB"/>
                </a:solidFill>
                <a:latin typeface="Inter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8047" y="32004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E5E7EB"/>
                </a:solidFill>
                <a:latin typeface="阿里巴巴普惠体 3.0"/>
              </a:rPr>
              <a:t>裸 JDBC / MyBatis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8047" y="365760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B7280"/>
                </a:solidFill>
                <a:latin typeface="阿里巴巴普惠体 3.0"/>
              </a:rPr>
              <a:t>维护 N 套 CRUD</a:t>
            </a:r>
          </a:p>
          <a:p>
            <a:r>
              <a:t>N 套 ORM 配置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047" y="406908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E5E7EB"/>
                </a:solidFill>
                <a:latin typeface="阿里巴巴普惠体 3.0"/>
              </a:rPr>
              <a:t>30 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04207" y="1828800"/>
            <a:ext cx="3383280" cy="2743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B4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87087" y="1920240"/>
            <a:ext cx="12801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1">
                <a:solidFill>
                  <a:srgbClr val="6B46C1"/>
                </a:solidFill>
                <a:latin typeface="Inter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87087" y="32004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6B46C1"/>
                </a:solidFill>
                <a:latin typeface="阿里巴巴普惠体 3.0"/>
              </a:rPr>
              <a:t>SQL 工坊 starter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87087" y="365760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B7280"/>
                </a:solidFill>
                <a:latin typeface="阿里巴巴普惠体 3.0"/>
              </a:rPr>
              <a:t>1 套 JSON 协议</a:t>
            </a:r>
          </a:p>
          <a:p>
            <a:r>
              <a:t>跨库自动 JOIN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87087" y="406908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6B46C1"/>
                </a:solidFill>
                <a:latin typeface="阿里巴巴普惠体 3.0"/>
              </a:rPr>
              <a:t>1 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53247" y="1828800"/>
            <a:ext cx="3383280" cy="274320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36127" y="1920240"/>
            <a:ext cx="12801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1">
                <a:solidFill>
                  <a:srgbClr val="F59E0B"/>
                </a:solidFill>
                <a:latin typeface="Inter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6127" y="32004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59E0B"/>
                </a:solidFill>
                <a:latin typeface="阿里巴巴普惠体 3.0"/>
              </a:rPr>
              <a:t>sql-forge-mcp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36127" y="365760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B7280"/>
                </a:solidFill>
                <a:latin typeface="阿里巴巴普惠体 3.0"/>
              </a:rPr>
              <a:t>AI 5 受限通道</a:t>
            </a:r>
          </a:p>
          <a:p>
            <a:r>
              <a:t>数据不出企业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36127" y="406908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59E0B"/>
                </a:solidFill>
                <a:latin typeface="阿里巴巴普惠体 3.0"/>
              </a:rPr>
              <a:t>0 直连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7040" y="6446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Inter"/>
              </a:rPr>
              <a:t>06 / 12</a:t>
            </a:r>
          </a:p>
        </p:txBody>
      </p:sp>
    </p:spTree>
  </p:cSld>
  <p:clrMapOvr>
    <a:masterClrMapping/>
  </p:clrMapOvr>
  <p:timing>
    <p:tnLst>
      <p:par>
        <p:pPr/>
        <p:par>
          <p:cond>
            <p:tnCond val="0"/>
          </p:cond>
          <p:par>
            <p:cTn id="4" nodeType="withEffect" dur="500" begin="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6" nodeType="withEffect" dur="500" begin="4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0" nodeType="withEffect" dur="500" begin="4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1" nodeType="withEffect" dur="500" begin="7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5" nodeType="withEffect" dur="500" begin="7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6" nodeType="withEffect" dur="500" begin="10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20" nodeType="withEffect" dur="500" begin="10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6" nodeType="withEffect" dur="1500" begin="2000ms" fill="hold" repeatCount="indefinite">
              <p:animEffect presetClass="emph" presetId="26" dur="1500"/>
            </p:cTn>
          </p:par>
        </p:par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1F2937"/>
                </a:solidFill>
                <a:latin typeface="阿里巴巴普惠体 3.0"/>
              </a:rPr>
              <a:t>SQL工坊 · 4 starter + 6 功能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72287" y="914400"/>
            <a:ext cx="2743200" cy="45720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2287" y="9601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JetBrains Mono"/>
              </a:rPr>
              <a:t>sql-forge-starter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06927" y="914400"/>
            <a:ext cx="2743200" cy="457200"/>
          </a:xfrm>
          <a:prstGeom prst="roundRect">
            <a:avLst/>
          </a:prstGeom>
          <a:solidFill>
            <a:srgbClr val="0073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306927" y="9601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JetBrains Mono"/>
              </a:rPr>
              <a:t>sql-forge-calcite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41567" y="914400"/>
            <a:ext cx="2743200" cy="457200"/>
          </a:xfrm>
          <a:prstGeom prst="roundRect">
            <a:avLst/>
          </a:prstGeom>
          <a:solidFill>
            <a:srgbClr val="0073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41567" y="9601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JetBrains Mono"/>
              </a:rPr>
              <a:t>sql-forge-web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76207" y="914400"/>
            <a:ext cx="2743200" cy="457200"/>
          </a:xfrm>
          <a:prstGeom prst="roundRect">
            <a:avLst/>
          </a:prstGeom>
          <a:solidFill>
            <a:srgbClr val="6B4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76207" y="9601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JetBrains Mono"/>
              </a:rPr>
              <a:t>sql-forge-mcp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6567" y="1645920"/>
            <a:ext cx="3657600" cy="128016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6567" y="2011680"/>
            <a:ext cx="3657600" cy="548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59E0B"/>
                </a:solidFill>
                <a:latin typeface="阿里巴巴普惠体 3.0"/>
              </a:rPr>
              <a:t>🔌 JSON CRUD ★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67047" y="1645920"/>
            <a:ext cx="3657600" cy="128016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67047" y="2011680"/>
            <a:ext cx="3657600" cy="548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59E0B"/>
                </a:solidFill>
                <a:latin typeface="阿里巴巴普惠体 3.0"/>
              </a:rPr>
              <a:t>🌐 Calcite ★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07527" y="1645920"/>
            <a:ext cx="3657600" cy="128016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07527" y="2011680"/>
            <a:ext cx="3657600" cy="548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59E0B"/>
                </a:solidFill>
                <a:latin typeface="阿里巴巴普惠体 3.0"/>
              </a:rPr>
              <a:t>🔒 MCP 5 受限 ★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6567" y="3108960"/>
            <a:ext cx="365760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6567" y="3474720"/>
            <a:ext cx="3657600" cy="548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07396"/>
                </a:solidFill>
                <a:latin typeface="阿里巴巴普惠体 3.0"/>
              </a:rPr>
              <a:t>🎨 Amis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67047" y="3108960"/>
            <a:ext cx="365760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67047" y="3474720"/>
            <a:ext cx="3657600" cy="548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07396"/>
                </a:solidFill>
                <a:latin typeface="阿里巴巴普惠体 3.0"/>
              </a:rPr>
              <a:t>🏗️ 实体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07527" y="3108960"/>
            <a:ext cx="365760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07527" y="3474720"/>
            <a:ext cx="3657600" cy="548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07396"/>
                </a:solidFill>
                <a:latin typeface="阿里巴巴普惠体 3.0"/>
              </a:rPr>
              <a:t>🛡️ 零直连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94360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59E0B"/>
                </a:solidFill>
                <a:latin typeface="阿里巴巴普惠体 3.0"/>
              </a:rPr>
              <a:t>★ AI 通过 5 个受限通道安全对话业务库,数据不出企业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07040" y="6446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Inter"/>
              </a:rPr>
              <a:t>07 / 12</a:t>
            </a:r>
          </a:p>
        </p:txBody>
      </p:sp>
    </p:spTree>
  </p:cSld>
  <p:clrMapOvr>
    <a:masterClrMapping/>
  </p:clrMapOvr>
  <p:timing>
    <p:tnLst>
      <p:par>
        <p:pPr/>
        <p:par>
          <p:cond>
            <p:tnCond val="0"/>
          </p:cond>
          <p:par>
            <p:cTn id="4" nodeType="withEffect" dur="500" begin="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6" nodeType="withEffect" dur="500" begin="2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8" nodeType="withEffect" dur="500" begin="4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0" nodeType="withEffect" dur="500" begin="6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2" nodeType="withEffect" dur="500" begin="10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4" nodeType="withEffect" dur="500" begin="12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6" nodeType="withEffect" dur="500" begin="14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8" nodeType="withEffect" dur="500" begin="16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20" nodeType="withEffect" dur="500" begin="18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22" nodeType="withEffect" dur="500" begin="20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2" nodeType="withEffect" dur="1500" begin="15000ms" fill="hold" repeatCount="indefinite">
              <p:animEffect presetClass="emph" presetId="26" dur="1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4" nodeType="withEffect" dur="1500" begin="17000ms" fill="hold" repeatCount="indefinite">
              <p:animEffect presetClass="emph" presetId="26" dur="1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6" nodeType="withEffect" dur="1500" begin="19000ms" fill="hold" repeatCount="indefinite">
              <p:animEffect presetClass="emph" presetId="26" dur="1500"/>
            </p:cTn>
          </p:par>
        </p:par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54864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F2937"/>
                </a:solidFill>
                <a:latin typeface="阿里巴巴普惠体 3.0"/>
              </a:rPr>
              <a:t>演示 1 · 一句话出分析报告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6B7280"/>
                </a:solidFill>
                <a:latin typeface="阿里巴巴普惠体 3.0"/>
              </a:rPr>
              <a:t>"上个月各品类销量怎么样?"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75207" y="2286000"/>
            <a:ext cx="18288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5207" y="24688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6B7280"/>
                </a:solidFill>
                <a:latin typeface="Inter"/>
              </a:rPr>
              <a:t>S1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5207" y="3017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6B7280"/>
                </a:solidFill>
                <a:latin typeface="阿里巴巴普惠体 3.0"/>
              </a:rPr>
              <a:t>👤 用户提问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078327" y="2286000"/>
            <a:ext cx="18288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73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078327" y="24688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396"/>
                </a:solidFill>
                <a:latin typeface="Inter"/>
              </a:rPr>
              <a:t>S2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78327" y="3017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07396"/>
                </a:solidFill>
                <a:latin typeface="阿里巴巴普惠体 3.0"/>
              </a:rPr>
              <a:t>🧠 NL2SQL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181447" y="2286000"/>
            <a:ext cx="18288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73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81447" y="24688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396"/>
                </a:solidFill>
                <a:latin typeface="Inter"/>
              </a:rPr>
              <a:t>S3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81447" y="3017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07396"/>
                </a:solidFill>
                <a:latin typeface="阿里巴巴普惠体 3.0"/>
              </a:rPr>
              <a:t>📊 读表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84567" y="2286000"/>
            <a:ext cx="18288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73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84567" y="24688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396"/>
                </a:solidFill>
                <a:latin typeface="Inter"/>
              </a:rPr>
              <a:t>S4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84567" y="3017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07396"/>
                </a:solidFill>
                <a:latin typeface="阿里巴巴普惠体 3.0"/>
              </a:rPr>
              <a:t>⚙️ 跨库 JOIN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87687" y="2286000"/>
            <a:ext cx="1828800" cy="2286000"/>
          </a:xfrm>
          <a:prstGeom prst="roundRect">
            <a:avLst/>
          </a:prstGeom>
          <a:solidFill>
            <a:srgbClr val="FEF3C7"/>
          </a:solidFill>
          <a:ln w="381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87687" y="24688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59E0B"/>
                </a:solidFill>
                <a:latin typeface="Inter"/>
              </a:rPr>
              <a:t>S5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87687" y="3017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59E0B"/>
                </a:solidFill>
                <a:latin typeface="阿里巴巴普惠体 3.0"/>
              </a:rPr>
              <a:t>📄 报告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49727" y="3246120"/>
            <a:ext cx="1828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59E0B"/>
                </a:solidFill>
                <a:latin typeface="Inter"/>
              </a:rPr>
              <a:t>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52847" y="3246120"/>
            <a:ext cx="1828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59E0B"/>
                </a:solidFill>
                <a:latin typeface="Inter"/>
              </a:rPr>
              <a:t>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55967" y="3246120"/>
            <a:ext cx="1828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59E0B"/>
                </a:solidFill>
                <a:latin typeface="Inter"/>
              </a:rPr>
              <a:t>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59087" y="3246120"/>
            <a:ext cx="1828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59E0B"/>
                </a:solidFill>
                <a:latin typeface="Inter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48640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6B46C1"/>
                </a:solidFill>
                <a:latin typeface="阿里巴巴普惠体 3.0"/>
              </a:rPr>
              <a:t>▼ 接下来看 42 秒真实录屏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07040" y="6446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Inter"/>
              </a:rPr>
              <a:t>08 / 12</a:t>
            </a:r>
          </a:p>
        </p:txBody>
      </p:sp>
    </p:spTree>
  </p:cSld>
  <p:clrMapOvr>
    <a:masterClrMapping/>
  </p:clrMapOvr>
  <p:timing>
    <p:tnLst>
      <p:par>
        <p:pPr/>
        <p:par>
          <p:cond>
            <p:tnCond val="0"/>
          </p:cond>
          <p:par>
            <p:cTn id="5" nodeType="withEffect" dur="500" begin="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8" nodeType="withEffect" dur="500" begin="10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1" nodeType="withEffect" dur="500" begin="20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4" nodeType="withEffect" dur="500" begin="30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7" nodeType="withEffect" dur="500" begin="40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7" nodeType="withEffect" dur="1500" begin="4500ms" fill="hold" repeatCount="indefinite">
              <p:animEffect presetClass="emph" presetId="26" dur="1500"/>
            </p:cTn>
          </p:par>
        </p:par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54864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F2937"/>
                </a:solidFill>
                <a:latin typeface="阿里巴巴普惠体 3.0"/>
              </a:rPr>
              <a:t>演示 2 · 一句话生成 CRUD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6B7280"/>
                </a:solidFill>
                <a:latin typeface="阿里巴巴普惠体 3.0"/>
              </a:rPr>
              <a:t>"做一个商品管理 CRUD 页面"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75207" y="2286000"/>
            <a:ext cx="18288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5207" y="24688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6B7280"/>
                </a:solidFill>
                <a:latin typeface="Inter"/>
              </a:rPr>
              <a:t>S1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5207" y="3017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6B7280"/>
                </a:solidFill>
                <a:latin typeface="阿里巴巴普惠体 3.0"/>
              </a:rPr>
              <a:t>👤 用户提问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078327" y="2286000"/>
            <a:ext cx="18288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B4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078327" y="24688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6B46C1"/>
                </a:solidFill>
                <a:latin typeface="Inter"/>
              </a:rPr>
              <a:t>S2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78327" y="3017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6B46C1"/>
                </a:solidFill>
                <a:latin typeface="阿里巴巴普惠体 3.0"/>
              </a:rPr>
              <a:t>🧠 web.st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181447" y="2286000"/>
            <a:ext cx="18288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B4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81447" y="24688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6B46C1"/>
                </a:solidFill>
                <a:latin typeface="Inter"/>
              </a:rPr>
              <a:t>S3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81447" y="3017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6B46C1"/>
                </a:solidFill>
                <a:latin typeface="阿里巴巴普惠体 3.0"/>
              </a:rPr>
              <a:t>📊 读表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84567" y="2286000"/>
            <a:ext cx="18288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B4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84567" y="24688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6B46C1"/>
                </a:solidFill>
                <a:latin typeface="Inter"/>
              </a:rPr>
              <a:t>S4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84567" y="3017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6B46C1"/>
                </a:solidFill>
                <a:latin typeface="阿里巴巴普惠体 3.0"/>
              </a:rPr>
              <a:t>🔧 生成 Amis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87687" y="2286000"/>
            <a:ext cx="1828800" cy="2286000"/>
          </a:xfrm>
          <a:prstGeom prst="roundRect">
            <a:avLst/>
          </a:prstGeom>
          <a:solidFill>
            <a:srgbClr val="FEF3C7"/>
          </a:solidFill>
          <a:ln w="381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87687" y="24688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59E0B"/>
                </a:solidFill>
                <a:latin typeface="Inter"/>
              </a:rPr>
              <a:t>S5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87687" y="3017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59E0B"/>
                </a:solidFill>
                <a:latin typeface="阿里巴巴普惠体 3.0"/>
              </a:rPr>
              <a:t>🌐 URL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49727" y="3246120"/>
            <a:ext cx="1828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59E0B"/>
                </a:solidFill>
                <a:latin typeface="Inter"/>
              </a:rPr>
              <a:t>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52847" y="3246120"/>
            <a:ext cx="1828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59E0B"/>
                </a:solidFill>
                <a:latin typeface="Inter"/>
              </a:rPr>
              <a:t>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55967" y="3246120"/>
            <a:ext cx="1828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59E0B"/>
                </a:solidFill>
                <a:latin typeface="Inter"/>
              </a:rPr>
              <a:t>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59087" y="3246120"/>
            <a:ext cx="1828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59E0B"/>
                </a:solidFill>
                <a:latin typeface="Inter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48640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6B46C1"/>
                </a:solidFill>
                <a:latin typeface="阿里巴巴普惠体 3.0"/>
              </a:rPr>
              <a:t>▼ 接下来看 40 秒真实录屏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07040" y="6446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Inter"/>
              </a:rPr>
              <a:t>09 / 12</a:t>
            </a:r>
          </a:p>
        </p:txBody>
      </p:sp>
    </p:spTree>
  </p:cSld>
  <p:clrMapOvr>
    <a:masterClrMapping/>
  </p:clrMapOvr>
  <p:timing>
    <p:tnLst>
      <p:par>
        <p:pPr/>
        <p:par>
          <p:cond>
            <p:tnCond val="0"/>
          </p:cond>
          <p:par>
            <p:cTn id="5" nodeType="withEffect" dur="500" begin="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8" nodeType="withEffect" dur="500" begin="10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1" nodeType="withEffect" dur="500" begin="20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4" nodeType="withEffect" dur="500" begin="30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7" nodeType="withEffect" dur="500" begin="40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7" nodeType="withEffect" dur="1500" begin="4500ms" fill="hold" repeatCount="indefinite">
              <p:animEffect presetClass="emph" presetId="26" dur="1500"/>
            </p:cTn>
          </p:par>
        </p:par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1F2937"/>
                </a:solidFill>
                <a:latin typeface="阿里巴巴普惠体 3.0"/>
              </a:rPr>
              <a:t>实战测试 · 7 张表 / 0 漂移 / 节省 &gt;80%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8686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07396"/>
                </a:solidFill>
                <a:latin typeface="阿里巴巴普惠体 3.0"/>
              </a:rPr>
              <a:t>技术派 · 4 项测试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3716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F2937"/>
                </a:solidFill>
                <a:latin typeface="阿里巴巴普惠体 3.0"/>
              </a:rPr>
              <a:t>✓ 7 张表测试(简单/字典/自关联)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874519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F2937"/>
                </a:solidFill>
                <a:latin typeface="阿里巴巴普惠体 3.0"/>
              </a:rPr>
              <a:t>✓ 0 漂移 / 0 错误链接 / 0 乱码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3774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F2937"/>
                </a:solidFill>
                <a:latin typeface="阿里巴巴普惠体 3.0"/>
              </a:rPr>
              <a:t>✓ 5/5 AI 字段推断自检通过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8803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59E0B"/>
                </a:solidFill>
                <a:latin typeface="阿里巴巴普惠体 3.0"/>
              </a:rPr>
              <a:t>✓ 节省 CRUD 开发时间 &gt;80%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86868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6B46C1"/>
                </a:solidFill>
                <a:latin typeface="阿里巴巴普惠体 3.0"/>
              </a:rPr>
              <a:t>开发时间 · 3 种方案</a:t>
            </a:r>
          </a:p>
        </p:txBody>
      </p:sp>
      <p:sp>
        <p:nvSpPr>
          <p:cNvPr id="9" name="Rectangle 8"/>
          <p:cNvSpPr/>
          <p:nvPr/>
        </p:nvSpPr>
        <p:spPr>
          <a:xfrm>
            <a:off x="4480560" y="2011680"/>
            <a:ext cx="822960" cy="256032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80560" y="16916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E5E7EB"/>
                </a:solidFill>
                <a:latin typeface="阿里巴巴普惠体 3.0"/>
              </a:rPr>
              <a:t>30天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470916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F2937"/>
                </a:solidFill>
                <a:latin typeface="阿里巴巴普惠体 3.0"/>
              </a:rPr>
              <a:t>传统开发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532120" y="3718560"/>
            <a:ext cx="822960" cy="853439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32120" y="3398519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DC2626"/>
                </a:solidFill>
                <a:latin typeface="阿里巴巴普惠体 3.0"/>
              </a:rPr>
              <a:t>10天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32120" y="470916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F2937"/>
                </a:solidFill>
                <a:latin typeface="阿里巴巴普惠体 3.0"/>
              </a:rPr>
              <a:t>集成 AI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0" y="4486656"/>
            <a:ext cx="822960" cy="85343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0" y="4166616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0B981"/>
                </a:solidFill>
                <a:latin typeface="阿里巴巴普惠体 3.0"/>
              </a:rPr>
              <a:t>1天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470916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F2937"/>
                </a:solidFill>
                <a:latin typeface="阿里巴巴普惠体 3.0"/>
              </a:rPr>
              <a:t>JavaBrain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89520" y="86868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6B46C1"/>
                </a:solidFill>
                <a:latin typeface="阿里巴巴普惠体 3.0"/>
              </a:rPr>
              <a:t>商业派 · 5 项对比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589520" y="1371600"/>
            <a:ext cx="4389120" cy="411480"/>
          </a:xfrm>
          <a:prstGeom prst="rect">
            <a:avLst/>
          </a:prstGeom>
          <a:solidFill>
            <a:srgbClr val="D1FAE5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1417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1F2937"/>
                </a:solidFill>
                <a:latin typeface="阿里巴巴普惠体 3.0"/>
              </a:rPr>
              <a:t>业务取数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0" y="14173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0B981"/>
                </a:solidFill>
                <a:latin typeface="Inter"/>
              </a:rPr>
              <a:t>✓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589520" y="1828800"/>
            <a:ext cx="438912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1874519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1F2937"/>
                </a:solidFill>
                <a:latin typeface="阿里巴巴普惠体 3.0"/>
              </a:rPr>
              <a:t>CRUD 页面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98480" y="1874519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0B981"/>
                </a:solidFill>
                <a:latin typeface="Inter"/>
              </a:rPr>
              <a:t>✓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89520" y="2286000"/>
            <a:ext cx="4389120" cy="411480"/>
          </a:xfrm>
          <a:prstGeom prst="rect">
            <a:avLst/>
          </a:prstGeom>
          <a:solidFill>
            <a:srgbClr val="D1FAE5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0" y="23317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1F2937"/>
                </a:solidFill>
                <a:latin typeface="阿里巴巴普惠体 3.0"/>
              </a:rPr>
              <a:t>跨库 JOIN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98480" y="23317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0B981"/>
                </a:solidFill>
                <a:latin typeface="Inter"/>
              </a:rPr>
              <a:t>✓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589520" y="2743200"/>
            <a:ext cx="438912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0" y="27889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1F2937"/>
                </a:solidFill>
                <a:latin typeface="阿里巴巴普惠体 3.0"/>
              </a:rPr>
              <a:t>私有化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98480" y="27889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0B981"/>
                </a:solidFill>
                <a:latin typeface="Inter"/>
              </a:rPr>
              <a:t>✓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589520" y="3200400"/>
            <a:ext cx="4389120" cy="411480"/>
          </a:xfrm>
          <a:prstGeom prst="rect">
            <a:avLst/>
          </a:prstGeom>
          <a:solidFill>
            <a:srgbClr val="D1FAE5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72400" y="32461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1F2937"/>
                </a:solidFill>
                <a:latin typeface="阿里巴巴普惠体 3.0"/>
              </a:rPr>
              <a:t>列名识别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98480" y="32461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0B981"/>
                </a:solidFill>
                <a:latin typeface="Inter"/>
              </a:rPr>
              <a:t>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576072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59E0B"/>
                </a:solidFill>
                <a:latin typeface="阿里巴巴普惠体 3.0"/>
              </a:rPr>
              <a:t>★ JavaBrain 在 安全 + 智能 + 私有化 三角都做到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07040" y="6446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Inter"/>
              </a:rPr>
              <a:t>10 / 12</a:t>
            </a:r>
          </a:p>
        </p:txBody>
      </p:sp>
    </p:spTree>
  </p:cSld>
  <p:clrMapOvr>
    <a:masterClrMapping/>
  </p:clrMapOvr>
  <p:timing>
    <p:tnLst>
      <p:par>
        <p:pPr/>
        <p:par>
          <p:cond>
            <p:tnCond val="0"/>
          </p:cond>
          <p:par>
            <p:cTn id="5" nodeType="withEffect" dur="500" begin="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6" nodeType="withEffect" dur="500" begin="4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7" nodeType="withEffect" dur="500" begin="8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8" nodeType="withEffect" dur="500" begin="12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0" nodeType="withEffect" dur="500" begin="18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3" nodeType="withEffect" dur="500" begin="205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6" nodeType="withEffect" dur="500" begin="23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21" nodeType="withEffect" dur="500" begin="30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24" nodeType="withEffect" dur="500" begin="35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27" nodeType="withEffect" dur="500" begin="40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30" nodeType="withEffect" dur="500" begin="45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33" nodeType="withEffect" dur="500" begin="50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8" nodeType="withEffect" dur="1500" begin="12000ms" fill="hold" repeatCount="indefinite">
              <p:animEffect presetClass="emph" presetId="26" dur="1500"/>
            </p:cTn>
          </p:par>
        </p:par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9-bg-timeline.png"/>
          <p:cNvPicPr>
            <a:picLocks noChangeAspect="1"/>
          </p:cNvPicPr>
          <p:nvPr/>
        </p:nvPicPr>
        <p:blipFill>
          <a:blip r:embed="rId2">
            <a:alphaModFix amt="100000"/>
          </a:blip>
          <a:stretch>
            <a:fillRect/>
          </a:stretch>
        </p:blipFill>
        <p:spPr>
          <a:xfrm>
            <a:off x="8686800" y="228600"/>
            <a:ext cx="3200400" cy="5943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F2937"/>
                </a:solidFill>
                <a:latin typeface="阿里巴巴普惠体 3.0"/>
              </a:rPr>
              <a:t>JavaBrain 路线图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96012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07396"/>
                </a:solidFill>
                <a:latin typeface="阿里巴巴普惠体 3.0"/>
              </a:rPr>
              <a:t>灵梭 · AI 赋能中心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" y="1463040"/>
            <a:ext cx="5669280" cy="7315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73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50876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07396"/>
                </a:solidFill>
                <a:latin typeface="阿里巴巴普惠体 3.0"/>
              </a:rPr>
              <a:t>1. Agentic Workflow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847088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B7280"/>
                </a:solidFill>
                <a:latin typeface="阿里巴巴普惠体 3.0"/>
              </a:rPr>
              <a:t>智能体工作流:自动拆解 + 多步推理 + 反思重试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2331720"/>
            <a:ext cx="5669280" cy="7315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73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2377439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07396"/>
                </a:solidFill>
                <a:latin typeface="阿里巴巴普惠体 3.0"/>
              </a:rPr>
              <a:t>2. Graph-RAG + 实时认知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715768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B7280"/>
                </a:solidFill>
                <a:latin typeface="阿里巴巴普惠体 3.0"/>
              </a:rPr>
              <a:t>知识图谱融合 + 毫秒级增量更新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4320" y="3200400"/>
            <a:ext cx="5669280" cy="7315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73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32461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07396"/>
                </a:solidFill>
                <a:latin typeface="阿里巴巴普惠体 3.0"/>
              </a:rPr>
              <a:t>3. 多模态交互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584448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B7280"/>
                </a:solidFill>
                <a:latin typeface="阿里巴巴普惠体 3.0"/>
              </a:rPr>
              <a:t>语音 / 图像 / AI 悬浮球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4320" y="4069079"/>
            <a:ext cx="5669280" cy="7315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73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4114799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07396"/>
                </a:solidFill>
                <a:latin typeface="阿里巴巴普惠体 3.0"/>
              </a:rPr>
              <a:t>4. Skill 插件生态市场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453127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B7280"/>
                </a:solidFill>
                <a:latin typeface="阿里巴巴普惠体 3.0"/>
              </a:rPr>
              <a:t>标准化打包 + 私有 Skill 市场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095" y="96012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6B46C1"/>
                </a:solidFill>
                <a:latin typeface="阿里巴巴普惠体 3.0"/>
              </a:rPr>
              <a:t>SQL工坊 · 数据管理引擎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48095" y="1463040"/>
            <a:ext cx="5669280" cy="7315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B4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30975" y="150876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6B46C1"/>
                </a:solidFill>
                <a:latin typeface="阿里巴巴普惠体 3.0"/>
              </a:rPr>
              <a:t>1. Text-to-SQL 终极形态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30975" y="1847088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B7280"/>
                </a:solidFill>
                <a:latin typeface="阿里巴巴普惠体 3.0"/>
              </a:rPr>
              <a:t>准确率 &gt;95% + 本地代码大模型 + Explain 优化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48095" y="2331720"/>
            <a:ext cx="5669280" cy="7315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B4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30975" y="2377439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6B46C1"/>
                </a:solidFill>
                <a:latin typeface="阿里巴巴普惠体 3.0"/>
              </a:rPr>
              <a:t>2. HTAP 湖仓一体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30975" y="2715768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B7280"/>
                </a:solidFill>
                <a:latin typeface="阿里巴巴普惠体 3.0"/>
              </a:rPr>
              <a:t>Flink 实时流 + Iceberg / Hudi 湖仓格式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48095" y="3200400"/>
            <a:ext cx="5669280" cy="7315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B4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30975" y="32461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6B46C1"/>
                </a:solidFill>
                <a:latin typeface="阿里巴巴普惠体 3.0"/>
              </a:rPr>
              <a:t>3. 智能数据治理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30975" y="3584448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B7280"/>
                </a:solidFill>
                <a:latin typeface="阿里巴巴普惠体 3.0"/>
              </a:rPr>
              <a:t>血缘分析 + 动态脱敏 + 自动化审计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48095" y="4069079"/>
            <a:ext cx="5669280" cy="7315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B4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30975" y="4114799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6B46C1"/>
                </a:solidFill>
                <a:latin typeface="阿里巴巴普惠体 3.0"/>
              </a:rPr>
              <a:t>4. Serverless 弹性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30975" y="4453127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B7280"/>
                </a:solidFill>
                <a:latin typeface="阿里巴巴普惠体 3.0"/>
              </a:rPr>
              <a:t>计算/存储分离 + 自动扩缩容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828800" y="5120640"/>
            <a:ext cx="8534095" cy="32004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828800" y="5138927"/>
            <a:ext cx="8534095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59E0B"/>
                </a:solidFill>
                <a:latin typeface="阿里巴巴普惠体 3.0"/>
              </a:rPr>
              <a:t>★ 让 AI 懂数据,让数据懂 AI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828800" y="5504688"/>
            <a:ext cx="8534095" cy="32004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828800" y="5522975"/>
            <a:ext cx="8534095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59E0B"/>
                </a:solidFill>
                <a:latin typeface="阿里巴巴普惠体 3.0"/>
              </a:rPr>
              <a:t>★ 终极形态:对话式数据分析 (CDA) 标杆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828800" y="5888736"/>
            <a:ext cx="8534095" cy="32004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828800" y="5907023"/>
            <a:ext cx="8534095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59E0B"/>
                </a:solidFill>
                <a:latin typeface="阿里巴巴普惠体 3.0"/>
              </a:rPr>
              <a:t>★ 零代码 AI 应用工厂 (Amis + Skill 绑定)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607040" y="6446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Inter"/>
              </a:rPr>
              <a:t>11 / 12</a:t>
            </a:r>
          </a:p>
        </p:txBody>
      </p:sp>
    </p:spTree>
  </p:cSld>
  <p:clrMapOvr>
    <a:masterClrMapping/>
  </p:clrMapOvr>
  <p:timing>
    <p:tnLst>
      <p:par>
        <p:pPr/>
        <p:par>
          <p:cond>
            <p:tnCond val="0"/>
          </p:cond>
          <p:par>
            <p:cTn id="4" nodeType="withEffect" dur="500" begin="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6" nodeType="withEffect" dur="500" begin="4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9" nodeType="withEffect" dur="500" begin="6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2" nodeType="withEffect" dur="500" begin="8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5" nodeType="withEffect" dur="500" begin="10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9" nodeType="withEffect" dur="500" begin="12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22" nodeType="withEffect" dur="500" begin="14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25" nodeType="withEffect" dur="500" begin="16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28" nodeType="withEffect" dur="500" begin="18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31" nodeType="withEffect" dur="500" begin="20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33" nodeType="withEffect" dur="500" begin="23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35" nodeType="withEffect" dur="500" begin="26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33" nodeType="withEffect" dur="1500" begin="3500ms" fill="hold" repeatCount="indefinite">
              <p:animEffect presetClass="emph" presetId="26" dur="1500"/>
            </p:cTn>
          </p:par>
        </p:par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10_brain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45720"/>
            <a:ext cx="1371600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68580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1">
                <a:solidFill>
                  <a:srgbClr val="1F2937"/>
                </a:solidFill>
                <a:latin typeface="Inter"/>
              </a:rPr>
              <a:t>JavaBrain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288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1F2937"/>
                </a:solidFill>
                <a:latin typeface="阿里巴巴普惠体 3.0"/>
              </a:rPr>
              <a:t>1. 开箱即用 + 私有化 + 业务语义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1F2937"/>
                </a:solidFill>
                <a:latin typeface="阿里巴巴普惠体 3.0"/>
              </a:rPr>
              <a:t>2. 一行命令启动,一个文件改 AI 行为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432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1F2937"/>
                </a:solidFill>
                <a:latin typeface="阿里巴巴普惠体 3.0"/>
              </a:rPr>
              <a:t>3. 让每个 Spring Boot 项目都自带 AI 能力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86000" y="3840480"/>
            <a:ext cx="7619695" cy="640080"/>
          </a:xfrm>
          <a:prstGeom prst="roundRect">
            <a:avLst/>
          </a:prstGeom>
          <a:solidFill>
            <a:srgbClr val="FEF3C7"/>
          </a:solidFill>
          <a:ln w="381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286000" y="3886200"/>
            <a:ext cx="76196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59E0B"/>
                </a:solidFill>
                <a:latin typeface="阿里巴巴普惠体 3.0"/>
              </a:rPr>
              <a:t>★ 让 AI 懂数据,让数据懂 AI — 打造对话式数据分析标杆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286000" y="4754880"/>
            <a:ext cx="7619695" cy="54864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86000" y="4800600"/>
            <a:ext cx="7619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10B981"/>
                </a:solidFill>
                <a:latin typeface="JetBrains Mono"/>
              </a:rPr>
              <a:t>$ Started LoomAgentApplication in 25.394 seconds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57784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6B7280"/>
                </a:solidFill>
                <a:latin typeface="JetBrains Mono"/>
              </a:rPr>
              <a:t>github.com/wb04307201/spring-ai-loom-agent  ·  gitee.com/wb04307201/spring-ai-loom-agent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126480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6B7280"/>
                </a:solidFill>
                <a:latin typeface="阿里巴巴普惠体 3.0"/>
              </a:rPr>
              <a:t>感谢 [团队名] · 联系: [邮箱]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Inter"/>
              </a:rPr>
              <a:t>12 / 12</a:t>
            </a:r>
          </a:p>
        </p:txBody>
      </p:sp>
    </p:spTree>
  </p:cSld>
  <p:clrMapOvr>
    <a:masterClrMapping/>
  </p:clrMapOvr>
  <p:timing>
    <p:tnLst>
      <p:par>
        <p:pPr/>
        <p:par>
          <p:cond>
            <p:tnCond val="0"/>
          </p:cond>
          <p:par>
            <p:cTn id="4" nodeType="withEffect" dur="500" begin="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5" nodeType="withEffect" dur="500" begin="6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6" nodeType="withEffect" dur="500" begin="12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7" nodeType="withEffect" dur="500" begin="18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8" nodeType="withEffect" dur="1500" begin="6000ms" fill="hold" repeatCount="indefinite">
              <p:animEffect presetClass="emph" presetId="26" dur="1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0" nodeType="withEffect" dur="500" begin="10000ms" fill="hold">
              <p:animEffect presetClass="entr" presetId="10" dur="500"/>
            </p:cTn>
          </p:par>
        </p:par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