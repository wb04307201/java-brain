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" begin="0ms" fill="hold">
              <p:animEffect presetClass="entr" presetId="23" dur="800"/>
            </p:cTn>
          </p:par>
        </p:par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5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600" begin="2000ms" fill="hold">
              <p:animEffect presetClass="entr" presetId="23" dur="6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ifur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1-light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stopw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3-puzz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3_dependency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200400" y="914400"/>
            <a:ext cx="5790895" cy="2743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 (AI 编排)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 (数据底座)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 (桥)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灵梭杀手锏:零配置接入 RAG / MCP / Skill · 50 行配置 → 1 行模板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★ SQL工坊杀手锏:JSON CRUD + Calcite 联邦 + Amis 低代码 · 开发效率 +300%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46C1"/>
                </a:solidFill>
                <a:latin typeface="阿里巴巴普惠体 3.0"/>
              </a:rPr>
              <a:t>★ SQL工坊 MCP 杀手锏:5 受限通道 · 数据不出企业 · 私有化部署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  <a:latin typeface="阿里巴巴普惠体 3.0"/>
              </a:rPr>
              <a:t>★ 全部杀手锏:3 个依赖库可独立按需引入 · 不绑死 Spring Boot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行模板,半年维护成本归零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📚 RAG 知识库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  <a:p>
            <a:r>
              <a:t>文档向量化检索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  <a:p>
            <a:r>
              <a:t>工具热加载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  <a:p>
            <a:r>
              <a:t>改 1 行 AI 行为变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  <a:p>
            <a:r>
              <a:t>流式输出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  <a:p>
            <a:r>
              <a:t>会话持久化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  <a:p>
            <a:r>
              <a:t>沙箱执行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7 张表测试(简单/字典/自关联)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0 漂移 / 0 错误链接 / 0 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822960" cy="256032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E7EB"/>
                </a:solidFill>
                <a:latin typeface="阿里巴巴普惠体 3.0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18560"/>
            <a:ext cx="822960" cy="8534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9851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阿里巴巴普惠体 3.0"/>
              </a:rPr>
              <a:t>10天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86656"/>
            <a:ext cx="822960" cy="85343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166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阿里巴巴普惠体 3.0"/>
              </a:rPr>
              <a:t>1天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868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3716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8288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22860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7432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788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400" begin="0ms" fill="hold">
              <p:animEffect presetClass="entr" presetId="10" dur="400"/>
            </p:cTn>
          </p:par>
        </p:par>
        <p:par>
          <p:cond>
            <p:tnCond val="0"/>
          </p:cond>
          <p:par>
            <p:cTn id="6" nodeType="withEffect" dur="400" begin="225ms" fill="hold">
              <p:animEffect presetClass="entr" presetId="10" dur="400"/>
            </p:cTn>
          </p:par>
        </p:par>
        <p:par>
          <p:cond>
            <p:tnCond val="0"/>
          </p:cond>
          <p:par>
            <p:cTn id="7" nodeType="withEffect" dur="400" begin="450ms" fill="hold">
              <p:animEffect presetClass="entr" presetId="10" dur="400"/>
            </p:cTn>
          </p:par>
        </p:par>
        <p:par>
          <p:cond>
            <p:tnCond val="0"/>
          </p:cond>
          <p:par>
            <p:cTn id="8" nodeType="withEffect" dur="400" begin="675ms" fill="hold">
              <p:animEffect presetClass="entr" presetId="10" dur="400"/>
            </p:cTn>
          </p:par>
        </p:par>
        <p:par>
          <p:cond>
            <p:tnCond val="0"/>
          </p:cond>
          <p:par>
            <p:cTn id="10" nodeType="withEffect" dur="400" begin="1200ms" fill="hold">
              <p:animEffect presetClass="entr" presetId="10" dur="400"/>
            </p:cTn>
          </p:par>
        </p:par>
        <p:par>
          <p:cond>
            <p:tnCond val="0"/>
          </p:cond>
          <p:par>
            <p:cTn id="13" nodeType="withEffect" dur="400" begin="1400ms" fill="hold">
              <p:animEffect presetClass="entr" presetId="10" dur="400"/>
            </p:cTn>
          </p:par>
        </p:par>
        <p:par>
          <p:cond>
            <p:tnCond val="0"/>
          </p:cond>
          <p:par>
            <p:cTn id="16" nodeType="withEffect" dur="400" begin="1600ms" fill="hold">
              <p:animEffect presetClass="entr" presetId="10" dur="400"/>
            </p:cTn>
          </p:par>
        </p:par>
        <p:par>
          <p:cond>
            <p:tnCond val="0"/>
          </p:cond>
          <p:par>
            <p:cTn id="21" nodeType="withEffect" dur="400" begin="2100ms" fill="hold">
              <p:animEffect presetClass="entr" presetId="10" dur="400"/>
            </p:cTn>
          </p:par>
        </p:par>
        <p:par>
          <p:cond>
            <p:tnCond val="0"/>
          </p:cond>
          <p:par>
            <p:cTn id="24" nodeType="withEffect" dur="400" begin="2300ms" fill="hold">
              <p:animEffect presetClass="entr" presetId="10" dur="400"/>
            </p:cTn>
          </p:par>
        </p:par>
        <p:par>
          <p:cond>
            <p:tnCond val="0"/>
          </p:cond>
          <p:par>
            <p:cTn id="27" nodeType="withEffect" dur="400" begin="2500ms" fill="hold">
              <p:animEffect presetClass="entr" presetId="10" dur="400"/>
            </p:cTn>
          </p:par>
        </p:par>
        <p:par>
          <p:cond>
            <p:tnCond val="0"/>
          </p:cond>
          <p:par>
            <p:cTn id="30" nodeType="withEffect" dur="400" begin="2700ms" fill="hold">
              <p:animEffect presetClass="entr" presetId="10" dur="400"/>
            </p:cTn>
          </p:par>
        </p:par>
        <p:par>
          <p:cond>
            <p:tnCond val="0"/>
          </p:cond>
          <p:par>
            <p:cTn id="33" nodeType="withEffect" dur="400" begin="2900ms" fill="hold">
              <p:animEffect presetClass="entr" presetId="10" dur="400"/>
            </p:cTn>
          </p:par>
        </p:par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9_dual_timelin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457200" y="868680"/>
            <a:ext cx="11277295" cy="10972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9456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 (主线 60%)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69748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3405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5351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24612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8269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0215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79476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3133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34340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7997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9943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SQL工坊 · 数据引擎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69748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73405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95351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准确率 &gt;95% · 本地代码大模型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324612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328269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0215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Flink + Iceberg/Hudi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379476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38313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血缘 + 脱敏 + 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434340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437997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59943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计算/存储分离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9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22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25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28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31" nodeType="withEffect" dur="500" begin="2000ms" fill="hold">
              <p:animEffect presetClass="entr" presetId="10" dur="500"/>
            </p:cTn>
          </p:par>
        </p:par>
        <p:par>
          <p:cond>
            <p:tnCond val="0"/>
          </p:cond>
          <p:par>
            <p:cTn id="33" nodeType="withEffect" dur="500" begin="2300ms" fill="hold">
              <p:animEffect presetClass="entr" presetId="10" dur="500"/>
            </p:cTn>
          </p:par>
        </p:par>
        <p:par>
          <p:cond>
            <p:tnCond val="0"/>
          </p:cond>
          <p:par>
            <p:cTn id="35" nodeType="withEffect" dur="500" begin="2600ms" fill="hold">
              <p:animEffect presetClass="entr" presetId="10" dur="500"/>
            </p:cTn>
          </p:par>
        </p:par>
        <p:par>
          <p:cond>
            <p:tnCond val="0"/>
          </p:cond>
          <p:par>
            <p:cTn id="33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感谢聆听 · Star 支持: github.com/wb04307201/spring-ai-loom-agent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0" begin="0ms" fill="hold" repeatCount="indefinite">
              <p:animEffect presetClass="emph" presetId="8" dur="8000"/>
            </p:cTn>
          </p:par>
        </p:par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1500" begin="6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0" nodeType="withEffect" dur="500" begin="4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