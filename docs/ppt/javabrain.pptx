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v2-d1-brain-3streams.png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743200" y="91440"/>
            <a:ext cx="6858000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004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5120640"/>
            <a:ext cx="164592" cy="164592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39104" y="5120640"/>
            <a:ext cx="164592" cy="164592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6895" y="5120640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704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阿里巴巴普惠体 3.0"/>
              </a:rPr>
              <a:t>3 分钟接入 AI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01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2" nodeType="withEffect" dur="800" begin="0ms" fill="hold">
                <p:animEffect presetClass="entr" presetId="23" dur="800"/>
              </p:cTn>
            </p:par>
            <p:par>
              <p:cTn id="1003" nodeType="withEffect" dur="500" begin="600ms" fill="hold">
                <p:animEffect presetClass="entr" presetId="10" dur="500"/>
              </p:cTn>
            </p:par>
            <p:par>
              <p:cTn id="1004" nodeType="withEffect" dur="500" begin="1000ms" fill="hold">
                <p:animEffect presetClass="entr" presetId="10" dur="500"/>
              </p:cTn>
            </p:par>
            <p:par>
              <p:cTn id="1005" nodeType="withEffect" dur="500" begin="1400ms" fill="hold">
                <p:animEffect presetClass="entr" presetId="10" dur="500"/>
              </p:cTn>
            </p:par>
            <p:par>
              <p:cTn id="1008" nodeType="withEffect" dur="500" begin="1600ms" fill="hold">
                <p:animEffect presetClass="entr" presetId="10" dur="500"/>
              </p:cTn>
            </p:par>
            <p:par>
              <p:cTn id="1011" nodeType="withEffect" dur="600" begin="2000ms" fill="hold">
                <p:animEffect presetClass="entr" presetId="23" dur="600"/>
              </p:cTn>
            </p:par>
          </p: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hour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ifur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1-light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stopw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3-puzz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7" nodeType="withEffect" dur="500" begin="0ms" fill="hold">
                <p:animEffect presetClass="entr" presetId="10" dur="500"/>
              </p:cTn>
            </p:par>
            <p:par>
              <p:cTn id="1008" nodeType="withEffect" dur="500" begin="350ms" fill="hold">
                <p:animEffect presetClass="entr" presetId="10" dur="500"/>
              </p:cTn>
            </p:par>
            <p:par>
              <p:cTn id="1009" nodeType="withEffect" dur="500" begin="700ms" fill="hold">
                <p:animEffect presetClass="entr" presetId="10" dur="500"/>
              </p:cTn>
            </p:par>
            <p:par>
              <p:cTn id="1010" nodeType="withEffect" dur="500" begin="1050ms" fill="hold">
                <p:animEffect presetClass="entr" presetId="10" dur="500"/>
              </p:cTn>
            </p:par>
            <p:par>
              <p:cTn id="1011" nodeType="withEffect" dur="500" begin="1400ms" fill="hold">
                <p:animEffect presetClass="entr" presetId="10" dur="500"/>
              </p:cTn>
            </p:par>
            <p:par>
              <p:cTn id="1012" nodeType="withEffect" dur="500" begin="1750ms" fill="hold">
                <p:animEffect presetClass="entr" presetId="10" dur="500"/>
              </p:cTn>
            </p:par>
            <p:par>
              <p:cTn id="1034" nodeType="withEffect" dur="1500" begin="3500ms" fill="hold" repeatCount="indefinite">
                <p:animEffect presetClass="emph" presetId="26" dur="1500"/>
              </p:cTn>
            </p:par>
            <p:par>
              <p:cTn id="1031" nodeType="withEffect" dur="500" begin="2200ms" fill="hold">
                <p:animEffect presetClass="entr" presetId="10" dur="500"/>
              </p:cTn>
            </p:par>
          </p: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p3_dependency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3200400" y="1005840"/>
            <a:ext cx="5790895" cy="201168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 (AI 编排)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 (数据底座)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 (桥)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★ 灵梭杀手锏:零配置接入 RAG / MCP / Skill · 50 行配置 → 1 行模板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★ SQL工坊杀手锏:JSON CRUD + Calcite 联邦 + Amis 低代码 · 开发效率 +300%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46C1"/>
                </a:solidFill>
                <a:latin typeface="阿里巴巴普惠体 3.0"/>
              </a:rPr>
              <a:t>★ SQL工坊 MCP 杀手锏:5 受限通道 · 数据不出企业 · 私有化部署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B981"/>
                </a:solidFill>
                <a:latin typeface="阿里巴巴普惠体 3.0"/>
              </a:rPr>
              <a:t>★ 全部杀手锏:3 个依赖库可独立按需引入 · 不绑死 Spring Boot 生态</a:t>
            </a:r>
          </a:p>
        </p:txBody>
      </p:sp>
      <p:sp>
        <p:nvSpPr>
          <p:cNvPr id="1008" name="TextBox 1007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2" nodeType="withEffect" dur="500" begin="0ms" fill="hold">
                <p:animEffect presetClass="entr" presetId="10" dur="500"/>
              </p:cTn>
            </p:par>
            <p:par>
              <p:cTn id="1003" nodeType="withEffect" dur="500" begin="600ms" fill="hold">
                <p:animEffect presetClass="entr" presetId="10" dur="500"/>
              </p:cTn>
            </p:par>
            <p:par>
              <p:cTn id="1007" nodeType="withEffect" dur="500" begin="1200ms" fill="hold">
                <p:animEffect presetClass="entr" presetId="10" dur="500"/>
              </p:cTn>
            </p:par>
            <p:par>
              <p:cTn id="1007" nodeType="withEffect" dur="1500" begin="2000ms" fill="hold" repeatCount="indefinite">
                <p:animEffect presetClass="emph" presetId="26" dur="1500"/>
              </p:cTn>
            </p:par>
          </p: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4a-ai-orchestrat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Spring AI 裸用到 JavaBrain 一体化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50 行配置 → 1 行模板,半年维护成本归零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Spring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写 50 行</a:t>
            </a:r>
          </a:p>
          <a:p>
            <a:r>
              <a:t>ChatClient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5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007396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灵梭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个 @Bean</a:t>
            </a:r>
          </a:p>
          <a:p>
            <a:r>
              <a:t>完成 RAG +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.st 模板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改 1 行字</a:t>
            </a:r>
          </a:p>
          <a:p>
            <a:r>
              <a:t>AI 行为变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10 分钟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3" nodeType="withEffect" dur="500" begin="0ms" fill="hold">
                <p:animEffect presetClass="entr" presetId="10" dur="500"/>
              </p:cTn>
            </p:par>
            <p:par>
              <p:cTn id="1005" nodeType="withEffect" dur="500" begin="400ms" fill="hold">
                <p:animEffect presetClass="entr" presetId="10" dur="500"/>
              </p:cTn>
            </p:par>
            <p:par>
              <p:cTn id="1009" nodeType="withEffect" dur="500" begin="400ms" fill="hold">
                <p:animEffect presetClass="entr" presetId="10" dur="500"/>
              </p:cTn>
            </p:par>
            <p:par>
              <p:cTn id="1010" nodeType="withEffect" dur="500" begin="700ms" fill="hold">
                <p:animEffect presetClass="entr" presetId="10" dur="500"/>
              </p:cTn>
            </p:par>
            <p:par>
              <p:cTn id="1014" nodeType="withEffect" dur="500" begin="700ms" fill="hold">
                <p:animEffect presetClass="entr" presetId="10" dur="500"/>
              </p:cTn>
            </p:par>
            <p:par>
              <p:cTn id="1015" nodeType="withEffect" dur="500" begin="1000ms" fill="hold">
                <p:animEffect presetClass="entr" presetId="10" dur="500"/>
              </p:cTn>
            </p:par>
            <p:par>
              <p:cTn id="1019" nodeType="withEffect" dur="500" begin="1000ms" fill="hold">
                <p:animEffect presetClass="entr" presetId="10" dur="500"/>
              </p:cTn>
            </p:par>
            <p:par>
              <p:cTn id="1015" nodeType="withEffect" dur="1500" begin="2000ms" fill="hold" repeatCount="indefinite">
                <p:animEffect presetClass="emph" presetId="26" dur="1500"/>
              </p:cTn>
            </p:par>
          </p: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📚 RAG 知识库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  <a:p>
            <a:r>
              <a:t>文档向量化检索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  <a:p>
            <a:r>
              <a:t>工具热加载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  <a:p>
            <a:r>
              <a:t>改 1 行 AI 行为变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  <a:p>
            <a:r>
              <a:t>流式输出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  <a:p>
            <a:r>
              <a:t>会话持久化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  <a:p>
            <a:r>
              <a:t>沙箱执行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3" nodeType="withEffect" dur="500" begin="0ms" fill="hold">
                <p:animEffect presetClass="entr" presetId="10" dur="500"/>
              </p:cTn>
            </p:par>
            <p:par>
              <p:cTn id="1006" nodeType="withEffect" dur="500" begin="200ms" fill="hold">
                <p:animEffect presetClass="entr" presetId="10" dur="500"/>
              </p:cTn>
            </p:par>
            <p:par>
              <p:cTn id="1009" nodeType="withEffect" dur="500" begin="400ms" fill="hold">
                <p:animEffect presetClass="entr" presetId="10" dur="500"/>
              </p:cTn>
            </p:par>
            <p:par>
              <p:cTn id="1012" nodeType="withEffect" dur="500" begin="600ms" fill="hold">
                <p:animEffect presetClass="entr" presetId="10" dur="500"/>
              </p:cTn>
            </p:par>
            <p:par>
              <p:cTn id="1015" nodeType="withEffect" dur="500" begin="800ms" fill="hold">
                <p:animEffect presetClass="entr" presetId="10" dur="500"/>
              </p:cTn>
            </p:par>
            <p:par>
              <p:cTn id="1018" nodeType="withEffect" dur="500" begin="1000ms" fill="hold">
                <p:animEffect presetClass="entr" presetId="10" dur="500"/>
              </p:cTn>
            </p:par>
            <p:par>
              <p:cTn id="1006" nodeType="withEffect" dur="1500" begin="10000ms" fill="hold" repeatCount="indefinite">
                <p:animEffect presetClass="emph" presetId="26" dur="1500"/>
              </p:cTn>
            </p:par>
            <p:par>
              <p:cTn id="1009" nodeType="withEffect" dur="1500" begin="12000ms" fill="hold" repeatCount="indefinite">
                <p:animEffect presetClass="emph" presetId="26" dur="1500"/>
              </p:cTn>
            </p:par>
          </p: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5a-calcite-federation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JDBC 散弹到 Calcite 联邦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1 套协议代替 5 套 ORM,数据库迁移零改代码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JDBC / MyBatis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维护 N 套 CRUD</a:t>
            </a:r>
          </a:p>
          <a:p>
            <a:r>
              <a:t>N 套 ORM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30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6B46C1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B46C1"/>
                </a:solidFill>
                <a:latin typeface="阿里巴巴普惠体 3.0"/>
              </a:rPr>
              <a:t>SQL 工坊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套 JSON 协议</a:t>
            </a:r>
          </a:p>
          <a:p>
            <a:r>
              <a:t>跨库自动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sql-forge-mcp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AI 5 受限通道</a:t>
            </a:r>
          </a:p>
          <a:p>
            <a:r>
              <a:t>数据不出企业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0 直连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3" nodeType="withEffect" dur="500" begin="0ms" fill="hold">
                <p:animEffect presetClass="entr" presetId="10" dur="500"/>
              </p:cTn>
            </p:par>
            <p:par>
              <p:cTn id="1005" nodeType="withEffect" dur="500" begin="400ms" fill="hold">
                <p:animEffect presetClass="entr" presetId="10" dur="500"/>
              </p:cTn>
            </p:par>
            <p:par>
              <p:cTn id="1009" nodeType="withEffect" dur="500" begin="400ms" fill="hold">
                <p:animEffect presetClass="entr" presetId="10" dur="500"/>
              </p:cTn>
            </p:par>
            <p:par>
              <p:cTn id="1010" nodeType="withEffect" dur="500" begin="700ms" fill="hold">
                <p:animEffect presetClass="entr" presetId="10" dur="500"/>
              </p:cTn>
            </p:par>
            <p:par>
              <p:cTn id="1014" nodeType="withEffect" dur="500" begin="700ms" fill="hold">
                <p:animEffect presetClass="entr" presetId="10" dur="500"/>
              </p:cTn>
            </p:par>
            <p:par>
              <p:cTn id="1015" nodeType="withEffect" dur="500" begin="1000ms" fill="hold">
                <p:animEffect presetClass="entr" presetId="10" dur="500"/>
              </p:cTn>
            </p:par>
            <p:par>
              <p:cTn id="1019" nodeType="withEffect" dur="500" begin="1000ms" fill="hold">
                <p:animEffect presetClass="entr" presetId="10" dur="500"/>
              </p:cTn>
            </p:par>
            <p:par>
              <p:cTn id="1015" nodeType="withEffect" dur="1500" begin="2000ms" fill="hold" repeatCount="indefinite">
                <p:animEffect presetClass="emph" presetId="26" dur="1500"/>
              </p:cTn>
            </p:par>
          </p: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3" nodeType="withEffect" dur="500" begin="0ms" fill="hold">
                <p:animEffect presetClass="entr" presetId="10" dur="500"/>
              </p:cTn>
            </p:par>
            <p:par>
              <p:cTn id="1005" nodeType="withEffect" dur="500" begin="200ms" fill="hold">
                <p:animEffect presetClass="entr" presetId="10" dur="500"/>
              </p:cTn>
            </p:par>
            <p:par>
              <p:cTn id="1007" nodeType="withEffect" dur="500" begin="400ms" fill="hold">
                <p:animEffect presetClass="entr" presetId="10" dur="500"/>
              </p:cTn>
            </p:par>
            <p:par>
              <p:cTn id="1009" nodeType="withEffect" dur="500" begin="600ms" fill="hold">
                <p:animEffect presetClass="entr" presetId="10" dur="500"/>
              </p:cTn>
            </p:par>
            <p:par>
              <p:cTn id="1011" nodeType="withEffect" dur="500" begin="1000ms" fill="hold">
                <p:animEffect presetClass="entr" presetId="10" dur="500"/>
              </p:cTn>
            </p:par>
            <p:par>
              <p:cTn id="1013" nodeType="withEffect" dur="500" begin="1200ms" fill="hold">
                <p:animEffect presetClass="entr" presetId="10" dur="500"/>
              </p:cTn>
            </p:par>
            <p:par>
              <p:cTn id="1015" nodeType="withEffect" dur="500" begin="1400ms" fill="hold">
                <p:animEffect presetClass="entr" presetId="10" dur="500"/>
              </p:cTn>
            </p:par>
            <p:par>
              <p:cTn id="1017" nodeType="withEffect" dur="500" begin="1600ms" fill="hold">
                <p:animEffect presetClass="entr" presetId="10" dur="500"/>
              </p:cTn>
            </p:par>
            <p:par>
              <p:cTn id="1019" nodeType="withEffect" dur="500" begin="1800ms" fill="hold">
                <p:animEffect presetClass="entr" presetId="10" dur="500"/>
              </p:cTn>
            </p:par>
            <p:par>
              <p:cTn id="1021" nodeType="withEffect" dur="500" begin="2000ms" fill="hold">
                <p:animEffect presetClass="entr" presetId="10" dur="500"/>
              </p:cTn>
            </p:par>
            <p:par>
              <p:cTn id="1011" nodeType="withEffect" dur="1500" begin="15000ms" fill="hold" repeatCount="indefinite">
                <p:animEffect presetClass="emph" presetId="26" dur="1500"/>
              </p:cTn>
            </p:par>
            <p:par>
              <p:cTn id="1013" nodeType="withEffect" dur="1500" begin="17000ms" fill="hold" repeatCount="indefinite">
                <p:animEffect presetClass="emph" presetId="26" dur="1500"/>
              </p:cTn>
            </p:par>
            <p:par>
              <p:cTn id="1015" nodeType="withEffect" dur="1500" begin="19000ms" fill="hold" repeatCount="indefinite">
                <p:animEffect presetClass="emph" presetId="26" dur="1500"/>
              </p:cTn>
            </p:par>
          </p: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4" nodeType="withEffect" dur="500" begin="0ms" fill="hold">
                <p:animEffect presetClass="entr" presetId="10" dur="500"/>
              </p:cTn>
            </p:par>
            <p:par>
              <p:cTn id="1007" nodeType="withEffect" dur="500" begin="400ms" fill="hold">
                <p:animEffect presetClass="entr" presetId="10" dur="500"/>
              </p:cTn>
            </p:par>
            <p:par>
              <p:cTn id="1010" nodeType="withEffect" dur="500" begin="800ms" fill="hold">
                <p:animEffect presetClass="entr" presetId="10" dur="500"/>
              </p:cTn>
            </p:par>
            <p:par>
              <p:cTn id="1013" nodeType="withEffect" dur="500" begin="1200ms" fill="hold">
                <p:animEffect presetClass="entr" presetId="10" dur="500"/>
              </p:cTn>
            </p:par>
            <p:par>
              <p:cTn id="1016" nodeType="withEffect" dur="500" begin="1600ms" fill="hold">
                <p:animEffect presetClass="entr" presetId="10" dur="500"/>
              </p:cTn>
            </p:par>
            <p:par>
              <p:cTn id="1016" nodeType="withEffect" dur="1500" begin="2500ms" fill="hold" repeatCount="indefinite">
                <p:animEffect presetClass="emph" presetId="26" dur="1500"/>
              </p:cTn>
            </p:par>
          </p: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4" nodeType="withEffect" dur="500" begin="0ms" fill="hold">
                <p:animEffect presetClass="entr" presetId="10" dur="500"/>
              </p:cTn>
            </p:par>
            <p:par>
              <p:cTn id="1007" nodeType="withEffect" dur="500" begin="400ms" fill="hold">
                <p:animEffect presetClass="entr" presetId="10" dur="500"/>
              </p:cTn>
            </p:par>
            <p:par>
              <p:cTn id="1010" nodeType="withEffect" dur="500" begin="800ms" fill="hold">
                <p:animEffect presetClass="entr" presetId="10" dur="500"/>
              </p:cTn>
            </p:par>
            <p:par>
              <p:cTn id="1013" nodeType="withEffect" dur="500" begin="1200ms" fill="hold">
                <p:animEffect presetClass="entr" presetId="10" dur="500"/>
              </p:cTn>
            </p:par>
            <p:par>
              <p:cTn id="1016" nodeType="withEffect" dur="500" begin="1600ms" fill="hold">
                <p:animEffect presetClass="entr" presetId="10" dur="500"/>
              </p:cTn>
            </p:par>
            <p:par>
              <p:cTn id="1016" nodeType="withEffect" dur="1500" begin="2500ms" fill="hold" repeatCount="indefinite">
                <p:animEffect presetClass="emph" presetId="26" dur="1500"/>
              </p:cTn>
            </p:par>
          </p: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7 张表测试(简单/字典/自关联)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7451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0 漂移 / 0 错误链接 / 0 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868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开发时间 · 3 种方案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011680"/>
            <a:ext cx="822960" cy="256032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E7EB"/>
                </a:solidFill>
                <a:latin typeface="阿里巴巴普惠体 3.0"/>
              </a:rPr>
              <a:t>30天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传统开发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3718560"/>
            <a:ext cx="822960" cy="85343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398519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阿里巴巴普惠体 3.0"/>
              </a:rPr>
              <a:t>10天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集成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486656"/>
            <a:ext cx="822960" cy="85343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166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阿里巴巴普惠体 3.0"/>
              </a:rPr>
              <a:t>1天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JavaBrain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868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3716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18288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18745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22860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331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2331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7432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788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2004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3246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60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4" nodeType="withEffect" dur="400" begin="0ms" fill="hold">
                <p:animEffect presetClass="entr" presetId="10" dur="400"/>
              </p:cTn>
            </p:par>
            <p:par>
              <p:cTn id="1005" nodeType="withEffect" dur="400" begin="225ms" fill="hold">
                <p:animEffect presetClass="entr" presetId="10" dur="400"/>
              </p:cTn>
            </p:par>
            <p:par>
              <p:cTn id="1006" nodeType="withEffect" dur="400" begin="450ms" fill="hold">
                <p:animEffect presetClass="entr" presetId="10" dur="400"/>
              </p:cTn>
            </p:par>
            <p:par>
              <p:cTn id="1007" nodeType="withEffect" dur="400" begin="675ms" fill="hold">
                <p:animEffect presetClass="entr" presetId="10" dur="400"/>
              </p:cTn>
            </p:par>
            <p:par>
              <p:cTn id="1009" nodeType="withEffect" dur="400" begin="1200ms" fill="hold">
                <p:animEffect presetClass="entr" presetId="10" dur="400"/>
              </p:cTn>
            </p:par>
            <p:par>
              <p:cTn id="1012" nodeType="withEffect" dur="400" begin="1400ms" fill="hold">
                <p:animEffect presetClass="entr" presetId="10" dur="400"/>
              </p:cTn>
            </p:par>
            <p:par>
              <p:cTn id="1015" nodeType="withEffect" dur="400" begin="1600ms" fill="hold">
                <p:animEffect presetClass="entr" presetId="10" dur="400"/>
              </p:cTn>
            </p:par>
            <p:par>
              <p:cTn id="1020" nodeType="withEffect" dur="400" begin="2100ms" fill="hold">
                <p:animEffect presetClass="entr" presetId="10" dur="400"/>
              </p:cTn>
            </p:par>
            <p:par>
              <p:cTn id="1023" nodeType="withEffect" dur="400" begin="2300ms" fill="hold">
                <p:animEffect presetClass="entr" presetId="10" dur="400"/>
              </p:cTn>
            </p:par>
            <p:par>
              <p:cTn id="1026" nodeType="withEffect" dur="400" begin="2500ms" fill="hold">
                <p:animEffect presetClass="entr" presetId="10" dur="400"/>
              </p:cTn>
            </p:par>
            <p:par>
              <p:cTn id="1029" nodeType="withEffect" dur="400" begin="2700ms" fill="hold">
                <p:animEffect presetClass="entr" presetId="10" dur="400"/>
              </p:cTn>
            </p:par>
            <p:par>
              <p:cTn id="1032" nodeType="withEffect" dur="400" begin="2900ms" fill="hold">
                <p:animEffect presetClass="entr" presetId="10" dur="400"/>
              </p:cTn>
            </p:par>
            <p:par>
              <p:cTn id="1007" nodeType="withEffect" dur="1500" begin="12000ms" fill="hold" repeatCount="indefinite">
                <p:animEffect presetClass="emph" presetId="26" dur="1500"/>
              </p:cTn>
            </p:par>
          </p: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从工具到同事 · 4 阶段信任阶梯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JavaBrain 的目标:成为您可托付的数据同事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97480" cy="32004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6B7280"/>
                </a:solidFill>
                <a:latin typeface="Inte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3317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B7280"/>
                </a:solidFill>
                <a:latin typeface="阿里巴巴普惠体 3.0"/>
              </a:rPr>
              <a:t>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AI 能干活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40"/>
            <a:ext cx="1783080" cy="182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4290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NL2SQL 出报告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49039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CRUD 自动生成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69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0 漂移 0 错误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371600"/>
            <a:ext cx="2697480" cy="32004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630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07396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3317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396"/>
                </a:solidFill>
                <a:latin typeface="阿里巴巴普惠体 3.0"/>
              </a:rPr>
              <a:t>可控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7889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AI 听指挥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39" y="3291840"/>
            <a:ext cx="1783080" cy="18288"/>
          </a:xfrm>
          <a:prstGeom prst="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4290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5 受限通道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749039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DDL 黑名单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069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写操作审计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371600"/>
            <a:ext cx="2697480" cy="32004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4630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6B46C1"/>
                </a:solidFill>
                <a:latin typeface="Inter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3317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B46C1"/>
                </a:solidFill>
                <a:latin typeface="阿里巴巴普惠体 3.0"/>
              </a:rPr>
              <a:t>可信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7889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数据不出企业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3291840"/>
            <a:ext cx="1783080" cy="18288"/>
          </a:xfrm>
          <a:prstGeom prst="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34290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全链路私有化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49039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本地 Qwen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069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无第三方回传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1371600"/>
            <a:ext cx="2697480" cy="32004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280" y="146304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59E0B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3317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阿里巴巴普惠体 3.0"/>
              </a:rPr>
              <a:t>可托付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78892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阿里巴巴普惠体 3.0"/>
              </a:rPr>
              <a:t>AI 主动拆解复杂任务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0" y="3291840"/>
            <a:ext cx="178308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42900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Agentic Workflow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749039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多步推理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069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阿里巴巴普惠体 3.0"/>
              </a:rPr>
              <a:t>✓ 反思重试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3163824" y="2862072"/>
            <a:ext cx="118872" cy="219456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ight Arrow 36"/>
          <p:cNvSpPr/>
          <p:nvPr/>
        </p:nvSpPr>
        <p:spPr>
          <a:xfrm>
            <a:off x="5998464" y="2862072"/>
            <a:ext cx="118872" cy="219456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ight Arrow 37"/>
          <p:cNvSpPr/>
          <p:nvPr/>
        </p:nvSpPr>
        <p:spPr>
          <a:xfrm>
            <a:off x="8833104" y="2862072"/>
            <a:ext cx="118872" cy="219456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4400" y="4846320"/>
            <a:ext cx="10362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8920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JavaBrain 不只是工具,而是你可托付的数据同事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2" nodeType="withEffect" dur="500" begin="0ms" fill="hold">
                <p:animEffect presetClass="entr" presetId="10" dur="500"/>
              </p:cTn>
            </p:par>
            <p:par>
              <p:cTn id="1004" nodeType="withEffect" dur="500" begin="600ms" fill="hold">
                <p:animEffect presetClass="entr" presetId="10" dur="500"/>
              </p:cTn>
            </p:par>
            <p:par>
              <p:cTn id="1012" nodeType="withEffect" dur="500" begin="1000ms" fill="hold">
                <p:animEffect presetClass="entr" presetId="10" dur="500"/>
              </p:cTn>
            </p:par>
            <p:par>
              <p:cTn id="1020" nodeType="withEffect" dur="500" begin="1400ms" fill="hold">
                <p:animEffect presetClass="entr" presetId="10" dur="500"/>
              </p:cTn>
            </p:par>
            <p:par>
              <p:cTn id="1028" nodeType="withEffect" dur="500" begin="1800ms" fill="hold">
                <p:animEffect presetClass="entr" presetId="10" dur="500"/>
              </p:cTn>
            </p:par>
            <p:par>
              <p:cTn id="1039" nodeType="withEffect" dur="1500" begin="2500ms" fill="hold" repeatCount="indefinite">
                <p:animEffect presetClass="emph" presetId="26" dur="1500"/>
              </p:cTn>
            </p:par>
          </p: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0_brai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"/>
            <a:ext cx="137160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85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感谢聆听 · Star 支持: github.com/wb04307201/spring-ai-loom-agent</a:t>
            </a:r>
          </a:p>
        </p:txBody>
      </p:sp>
      <p:sp>
        <p:nvSpPr>
          <p:cNvPr id="1010" name="TextBox 1009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  <p:timing>
    <p:tnLst>
      <p:par>
        <p:cTn id="1" nodeType="tmRoot" pres="1">
          <p:tnLst>
            <p:par>
              <p:cTn id="1002" nodeType="withEffect" dur="8000" begin="0ms" fill="hold" repeatCount="indefinite">
                <p:animEffect presetClass="emph" presetId="8" dur="8000"/>
              </p:cTn>
            </p:par>
            <p:par>
              <p:cTn id="1003" nodeType="withEffect" dur="500" begin="0ms" fill="hold">
                <p:animEffect presetClass="entr" presetId="10" dur="500"/>
              </p:cTn>
            </p:par>
            <p:par>
              <p:cTn id="1004" nodeType="withEffect" dur="500" begin="600ms" fill="hold">
                <p:animEffect presetClass="entr" presetId="10" dur="500"/>
              </p:cTn>
            </p:par>
            <p:par>
              <p:cTn id="1005" nodeType="withEffect" dur="500" begin="1200ms" fill="hold">
                <p:animEffect presetClass="entr" presetId="10" dur="500"/>
              </p:cTn>
            </p:par>
            <p:par>
              <p:cTn id="1006" nodeType="withEffect" dur="500" begin="1800ms" fill="hold">
                <p:animEffect presetClass="entr" presetId="10" dur="500"/>
              </p:cTn>
            </p:par>
            <p:par>
              <p:cTn id="1007" nodeType="withEffect" dur="1500" begin="6000ms" fill="hold" repeatCount="indefinite">
                <p:animEffect presetClass="emph" presetId="26" dur="1500"/>
              </p:cTn>
            </p:par>
            <p:par>
              <p:cTn id="1009" nodeType="withEffect" dur="500" begin="4000ms" fill="hold">
                <p:animEffect presetClass="entr" presetId="10" dur="500"/>
              </p:cTn>
            </p:par>
          </p: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