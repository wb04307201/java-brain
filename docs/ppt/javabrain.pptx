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1v2-d1-brain-3streams.png"/>
          <p:cNvPicPr>
            <a:picLocks noChangeAspect="1"/>
          </p:cNvPicPr>
          <p:nvPr/>
        </p:nvPicPr>
        <p:blipFill>
          <a:blip r:embed="rId2">
            <a:alphaModFix amt="38000"/>
          </a:blip>
          <a:stretch>
            <a:fillRect/>
          </a:stretch>
        </p:blipFill>
        <p:spPr>
          <a:xfrm>
            <a:off x="2743200" y="91440"/>
            <a:ext cx="6858000" cy="3017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20040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1F2937"/>
                </a:solidFill>
                <a:latin typeface="Inter"/>
              </a:rPr>
              <a:t>JavaBrain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B7280"/>
                </a:solidFill>
                <a:latin typeface="阿里巴巴普惠体 3.0"/>
              </a:rPr>
              <a:t>让您的系统瞬间拥有“思考”与“执行”的智能大脑</a:t>
            </a:r>
          </a:p>
        </p:txBody>
      </p:sp>
      <p:sp>
        <p:nvSpPr>
          <p:cNvPr id="5" name="Oval 4"/>
          <p:cNvSpPr/>
          <p:nvPr/>
        </p:nvSpPr>
        <p:spPr>
          <a:xfrm>
            <a:off x="3200400" y="5120640"/>
            <a:ext cx="164592" cy="164592"/>
          </a:xfrm>
          <a:prstGeom prst="ellipse">
            <a:avLst/>
          </a:prstGeom>
          <a:solidFill>
            <a:srgbClr val="007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39104" y="5120640"/>
            <a:ext cx="164592" cy="164592"/>
          </a:xfrm>
          <a:prstGeom prst="ellipse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76895" y="5120640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505663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396"/>
                </a:solidFill>
                <a:latin typeface="阿里巴巴普惠体 3.0"/>
              </a:rPr>
              <a:t>灵梭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7704" y="505663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46C1"/>
                </a:solidFill>
                <a:latin typeface="阿里巴巴普惠体 3.0"/>
              </a:rPr>
              <a:t>SQL工坊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5495" y="505663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阿里巴巴普惠体 3.0"/>
              </a:rPr>
              <a:t>SQL工坊 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5852160"/>
            <a:ext cx="4876495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5897880"/>
            <a:ext cx="4876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阿里巴巴普惠体 3.0"/>
              </a:rPr>
              <a:t>3 分钟接入 AI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01 / 12</a:t>
            </a:r>
          </a:p>
        </p:txBody>
      </p:sp>
    </p:spTree>
  </p:cSld>
  <p:clrMapOvr>
    <a:masterClrMapping/>
  </p:clrMapOvr>
  <p:timing>
    <p:tnLst>
      <p:par>
        <p:cTn id="1" nodeType="tmRoot" pres="1">
          <p:tnLst>
            <p:par>
              <p:cTn id="1002" nodeType="withEffect" dur="800" begin="0ms" fill="hold">
                <p:animEffect presetClass="entr" presetId="23" dur="800"/>
              </p:cTn>
            </p:par>
            <p:par>
              <p:cTn id="1003" nodeType="withEffect" dur="500" begin="600ms" fill="hold">
                <p:animEffect presetClass="entr" presetId="10" dur="500"/>
              </p:cTn>
            </p:par>
            <p:par>
              <p:cTn id="1004" nodeType="withEffect" dur="500" begin="1000ms" fill="hold">
                <p:animEffect presetClass="entr" presetId="10" dur="500"/>
              </p:cTn>
            </p:par>
            <p:par>
              <p:cTn id="1005" nodeType="withEffect" dur="500" begin="1400ms" fill="hold">
                <p:animEffect presetClass="entr" presetId="10" dur="500"/>
              </p:cTn>
            </p:par>
            <p:par>
              <p:cTn id="1008" nodeType="withEffect" dur="500" begin="1600ms" fill="hold">
                <p:animEffect presetClass="entr" presetId="10" dur="500"/>
              </p:cTn>
            </p:par>
            <p:par>
              <p:cTn id="1011" nodeType="withEffect" dur="600" begin="2000ms" fill="hold">
                <p:animEffect presetClass="entr" presetId="23" dur="600"/>
              </p:cTn>
            </p:par>
          </p: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阿里巴巴普惠体 3.0"/>
              </a:rPr>
              <a:t>接入 AI 的 3 个痛点  vs  JavaBrain 的 3 个解法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3657600"/>
            <a:ext cx="10972800" cy="5486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" y="3657600"/>
            <a:ext cx="54864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59144" y="3657600"/>
            <a:ext cx="1371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304" y="3657600"/>
            <a:ext cx="5486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2-red-1-hourg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" y="1280160"/>
            <a:ext cx="1097280" cy="109728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0176" y="3575304"/>
            <a:ext cx="219456" cy="219456"/>
          </a:xfrm>
          <a:prstGeom prst="ellipse">
            <a:avLst/>
          </a:prstGeom>
          <a:solidFill>
            <a:srgbClr val="DC262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30175" y="39319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DC2626"/>
                </a:solidFill>
                <a:latin typeface="Inter"/>
              </a:rPr>
              <a:t>3 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21615" y="45262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阿里巴巴普惠体 3.0"/>
              </a:rPr>
              <a:t>集成 AI</a:t>
            </a:r>
          </a:p>
        </p:txBody>
      </p:sp>
      <p:pic>
        <p:nvPicPr>
          <p:cNvPr id="11" name="Picture 10" descr="p2-red-2-bifur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824" y="1280160"/>
            <a:ext cx="1097280" cy="109728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694736" y="3575304"/>
            <a:ext cx="219456" cy="219456"/>
          </a:xfrm>
          <a:prstGeom prst="ellipse">
            <a:avLst/>
          </a:prstGeom>
          <a:solidFill>
            <a:srgbClr val="DC262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64384" y="39319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DC2626"/>
                </a:solidFill>
                <a:latin typeface="Inter"/>
              </a:rPr>
              <a:t>5 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2944" y="45262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阿里巴巴普惠体 3.0"/>
              </a:rPr>
              <a:t>训练数据</a:t>
            </a:r>
          </a:p>
        </p:txBody>
      </p:sp>
      <p:pic>
        <p:nvPicPr>
          <p:cNvPr id="15" name="Picture 14" descr="p2-red-3-tangl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384" y="1280160"/>
            <a:ext cx="1097280" cy="109728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4889296" y="3575304"/>
            <a:ext cx="219456" cy="219456"/>
          </a:xfrm>
          <a:prstGeom prst="ellipse">
            <a:avLst/>
          </a:prstGeom>
          <a:solidFill>
            <a:srgbClr val="DC262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8944" y="39319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DC2626"/>
                </a:solidFill>
                <a:latin typeface="Inter"/>
              </a:rPr>
              <a:t>3 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7504" y="45262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阿里巴巴普惠体 3.0"/>
              </a:rPr>
              <a:t>上线联调</a:t>
            </a:r>
          </a:p>
        </p:txBody>
      </p:sp>
      <p:pic>
        <p:nvPicPr>
          <p:cNvPr id="19" name="Picture 18" descr="p2-green-1-light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944" y="1280160"/>
            <a:ext cx="1097280" cy="1097280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7083856" y="3575304"/>
            <a:ext cx="219456" cy="219456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504" y="39319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0B981"/>
                </a:solidFill>
                <a:latin typeface="Inter"/>
              </a:rPr>
              <a:t>3 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2064" y="45262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阿里巴巴普惠体 3.0"/>
              </a:rPr>
              <a:t>一键集成</a:t>
            </a:r>
          </a:p>
        </p:txBody>
      </p:sp>
      <p:pic>
        <p:nvPicPr>
          <p:cNvPr id="23" name="Picture 22" descr="p2-green-2-stopwat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9504" y="1280160"/>
            <a:ext cx="1097280" cy="1097280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9278416" y="3575304"/>
            <a:ext cx="219456" cy="219456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8064" y="39319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0B981"/>
                </a:solidFill>
                <a:latin typeface="Inter"/>
              </a:rPr>
              <a:t>90 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6624" y="45262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阿里巴巴普惠体 3.0"/>
              </a:rPr>
              <a:t>出报告</a:t>
            </a:r>
          </a:p>
        </p:txBody>
      </p:sp>
      <p:pic>
        <p:nvPicPr>
          <p:cNvPr id="27" name="Picture 26" descr="p2-green-3-puzz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4064" y="1280160"/>
            <a:ext cx="1097280" cy="109728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11472976" y="3575304"/>
            <a:ext cx="219456" cy="219456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42624" y="39319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0B981"/>
                </a:solidFill>
                <a:latin typeface="Inter"/>
              </a:rPr>
              <a:t>10 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51184" y="45262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阿里巴巴普惠体 3.0"/>
              </a:rPr>
              <a:t>出页面</a:t>
            </a:r>
          </a:p>
        </p:txBody>
      </p:sp>
      <p:sp>
        <p:nvSpPr>
          <p:cNvPr id="31" name="Oval 30"/>
          <p:cNvSpPr/>
          <p:nvPr/>
        </p:nvSpPr>
        <p:spPr>
          <a:xfrm>
            <a:off x="5593384" y="3154680"/>
            <a:ext cx="1005840" cy="1005840"/>
          </a:xfrm>
          <a:prstGeom prst="ellipse">
            <a:avLst/>
          </a:prstGeom>
          <a:solidFill>
            <a:srgbClr val="FEF3C7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47664" y="3429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Inter"/>
              </a:rPr>
              <a:t>1440×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6224" y="382219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阿里巴巴普惠体 3.0"/>
              </a:rPr>
              <a:t>效率提升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0" y="5760720"/>
            <a:ext cx="5790895" cy="640080"/>
          </a:xfrm>
          <a:prstGeom prst="roundRect">
            <a:avLst/>
          </a:prstGeom>
          <a:solidFill>
            <a:srgbClr val="FEF3C7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5806440"/>
            <a:ext cx="5790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阿里巴巴普惠体 3.0"/>
              </a:rPr>
              <a:t>★ 3 月 vs 3 分 — 从季度到分钟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02 / 12</a:t>
            </a:r>
          </a:p>
        </p:txBody>
      </p:sp>
    </p:spTree>
  </p:cSld>
  <p:clrMapOvr>
    <a:masterClrMapping/>
  </p:clrMapOvr>
  <p:timing>
    <p:tnLst>
      <p:par>
        <p:cTn id="1" nodeType="tmRoot" pres="1">
          <p:tnLst>
            <p:par>
              <p:cTn id="1007" nodeType="withEffect" dur="500" begin="0ms" fill="hold">
                <p:animEffect presetClass="entr" presetId="10" dur="500"/>
              </p:cTn>
            </p:par>
            <p:par>
              <p:cTn id="1008" nodeType="withEffect" dur="500" begin="350ms" fill="hold">
                <p:animEffect presetClass="entr" presetId="10" dur="500"/>
              </p:cTn>
            </p:par>
            <p:par>
              <p:cTn id="1009" nodeType="withEffect" dur="500" begin="700ms" fill="hold">
                <p:animEffect presetClass="entr" presetId="10" dur="500"/>
              </p:cTn>
            </p:par>
            <p:par>
              <p:cTn id="1010" nodeType="withEffect" dur="500" begin="1050ms" fill="hold">
                <p:animEffect presetClass="entr" presetId="10" dur="500"/>
              </p:cTn>
            </p:par>
            <p:par>
              <p:cTn id="1011" nodeType="withEffect" dur="500" begin="1400ms" fill="hold">
                <p:animEffect presetClass="entr" presetId="10" dur="500"/>
              </p:cTn>
            </p:par>
            <p:par>
              <p:cTn id="1012" nodeType="withEffect" dur="500" begin="1750ms" fill="hold">
                <p:animEffect presetClass="entr" presetId="10" dur="500"/>
              </p:cTn>
            </p:par>
            <p:par>
              <p:cTn id="1034" nodeType="withEffect" dur="1500" begin="3500ms" fill="hold" repeatCount="indefinite">
                <p:animEffect presetClass="emph" presetId="26" dur="1500"/>
              </p:cTn>
            </p:par>
            <p:par>
              <p:cTn id="1031" nodeType="withEffect" dur="500" begin="2200ms" fill="hold">
                <p:animEffect presetClass="entr" presetId="10" dur="500"/>
              </p:cTn>
            </p:par>
          </p: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p3_dependency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3200400" y="1005840"/>
            <a:ext cx="5790895" cy="201168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F2937"/>
                </a:solidFill>
                <a:latin typeface="阿里巴巴普惠体 3.0"/>
              </a:rPr>
              <a:t>JavaBrain = 灵梭 + SQL工坊 + SQL工坊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396"/>
                </a:solidFill>
                <a:latin typeface="阿里巴巴普惠体 3.0"/>
              </a:rPr>
              <a:t>灵梭 (AI 编排)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46C1"/>
                </a:solidFill>
                <a:latin typeface="阿里巴巴普惠体 3.0"/>
              </a:rPr>
              <a:t>SQL工坊 (数据底座)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阿里巴巴普惠体 3.0"/>
              </a:rPr>
              <a:t>SQL工坊 MCP (桥)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阿里巴巴普惠体 3.0"/>
              </a:rPr>
              <a:t>★ 灵梭杀手锏:零配置接入 RAG / MCP / Skill · 50 行配置 → 1 行模板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阿里巴巴普惠体 3.0"/>
              </a:rPr>
              <a:t>★ SQL工坊杀手锏:JSON CRUD + Calcite 联邦 + Amis 低代码 · 开发效率 +300%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46C1"/>
                </a:solidFill>
                <a:latin typeface="阿里巴巴普惠体 3.0"/>
              </a:rPr>
              <a:t>★ SQL工坊 MCP 杀手锏:5 受限通道 · 数据不出企业 · 私有化部署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0B981"/>
                </a:solidFill>
                <a:latin typeface="阿里巴巴普惠体 3.0"/>
              </a:rPr>
              <a:t>★ 全部杀手锏:3 个依赖库可独立按需引入 · 不绑死 Spring Boot 生态</a:t>
            </a:r>
          </a:p>
        </p:txBody>
      </p:sp>
      <p:sp>
        <p:nvSpPr>
          <p:cNvPr id="1008" name="TextBox 1007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03 / 12</a:t>
            </a:r>
          </a:p>
        </p:txBody>
      </p:sp>
    </p:spTree>
  </p:cSld>
  <p:clrMapOvr>
    <a:masterClrMapping/>
  </p:clrMapOvr>
  <p:timing>
    <p:tnLst>
      <p:par>
        <p:cTn id="1" nodeType="tmRoot" pres="1">
          <p:tnLst>
            <p:par>
              <p:cTn id="1002" nodeType="withEffect" dur="500" begin="0ms" fill="hold">
                <p:animEffect presetClass="entr" presetId="10" dur="500"/>
              </p:cTn>
            </p:par>
            <p:par>
              <p:cTn id="1003" nodeType="withEffect" dur="500" begin="600ms" fill="hold">
                <p:animEffect presetClass="entr" presetId="10" dur="500"/>
              </p:cTn>
            </p:par>
            <p:par>
              <p:cTn id="1007" nodeType="withEffect" dur="500" begin="1200ms" fill="hold">
                <p:animEffect presetClass="entr" presetId="10" dur="500"/>
              </p:cTn>
            </p:par>
            <p:par>
              <p:cTn id="1007" nodeType="withEffect" dur="1500" begin="2000ms" fill="hold" repeatCount="indefinite">
                <p:animEffect presetClass="emph" presetId="26" dur="1500"/>
              </p:cTn>
            </p:par>
          </p: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" name="Picture 19" descr="p4a-ai-orchestrat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82880" y="4663440"/>
            <a:ext cx="3017520" cy="219456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396"/>
                </a:solidFill>
                <a:latin typeface="Inter"/>
              </a:rPr>
              <a:t>灵梭 · LoomAgent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F2937"/>
                </a:solidFill>
                <a:latin typeface="阿里巴巴普惠体 3.0"/>
              </a:rPr>
              <a:t>从 Spring AI 裸用到 JavaBrain 一体化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阿里巴巴普惠体 3.0"/>
              </a:rPr>
              <a:t>★ 50 行配置 → 1 行模板,半年维护成本归零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167" y="1828800"/>
            <a:ext cx="33832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047" y="192024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E5E7EB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047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5E7EB"/>
                </a:solidFill>
                <a:latin typeface="阿里巴巴普惠体 3.0"/>
              </a:rPr>
              <a:t>裸 Spring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047" y="36576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阿里巴巴普惠体 3.0"/>
              </a:rPr>
              <a:t>写 50 行</a:t>
            </a:r>
          </a:p>
          <a:p>
            <a:r>
              <a:t>ChatClient 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E7EB"/>
                </a:solidFill>
                <a:latin typeface="阿里巴巴普惠体 3.0"/>
              </a:rPr>
              <a:t>5 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4207" y="1828800"/>
            <a:ext cx="33832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7087" y="192024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7396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087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7396"/>
                </a:solidFill>
                <a:latin typeface="阿里巴巴普惠体 3.0"/>
              </a:rPr>
              <a:t>灵梭 starter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087" y="36576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阿里巴巴普惠体 3.0"/>
              </a:rPr>
              <a:t>1 个 @Bean</a:t>
            </a:r>
          </a:p>
          <a:p>
            <a:r>
              <a:t>完成 RAG + 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7087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396"/>
                </a:solidFill>
                <a:latin typeface="阿里巴巴普惠体 3.0"/>
              </a:rPr>
              <a:t>1 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3247" y="1828800"/>
            <a:ext cx="3383280" cy="2743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6127" y="192024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59E0B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127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阿里巴巴普惠体 3.0"/>
              </a:rPr>
              <a:t>.st 模板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27" y="36576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阿里巴巴普惠体 3.0"/>
              </a:rPr>
              <a:t>改 1 行字</a:t>
            </a:r>
          </a:p>
          <a:p>
            <a:r>
              <a:t>AI 行为变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6127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阿里巴巴普惠体 3.0"/>
              </a:rPr>
              <a:t>10 分钟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04 / 12</a:t>
            </a:r>
          </a:p>
        </p:txBody>
      </p:sp>
    </p:spTree>
  </p:cSld>
  <p:clrMapOvr>
    <a:masterClrMapping/>
  </p:clrMapOvr>
  <p:timing>
    <p:tnLst>
      <p:par>
        <p:cTn id="1" nodeType="tmRoot" pres="1">
          <p:tnLst>
            <p:par>
              <p:cTn id="1003" nodeType="withEffect" dur="500" begin="0ms" fill="hold">
                <p:animEffect presetClass="entr" presetId="10" dur="500"/>
              </p:cTn>
            </p:par>
            <p:par>
              <p:cTn id="1005" nodeType="withEffect" dur="500" begin="400ms" fill="hold">
                <p:animEffect presetClass="entr" presetId="10" dur="500"/>
              </p:cTn>
            </p:par>
            <p:par>
              <p:cTn id="1009" nodeType="withEffect" dur="500" begin="400ms" fill="hold">
                <p:animEffect presetClass="entr" presetId="10" dur="500"/>
              </p:cTn>
            </p:par>
            <p:par>
              <p:cTn id="1010" nodeType="withEffect" dur="500" begin="700ms" fill="hold">
                <p:animEffect presetClass="entr" presetId="10" dur="500"/>
              </p:cTn>
            </p:par>
            <p:par>
              <p:cTn id="1014" nodeType="withEffect" dur="500" begin="700ms" fill="hold">
                <p:animEffect presetClass="entr" presetId="10" dur="500"/>
              </p:cTn>
            </p:par>
            <p:par>
              <p:cTn id="1015" nodeType="withEffect" dur="500" begin="1000ms" fill="hold">
                <p:animEffect presetClass="entr" presetId="10" dur="500"/>
              </p:cTn>
            </p:par>
            <p:par>
              <p:cTn id="1019" nodeType="withEffect" dur="500" begin="1000ms" fill="hold">
                <p:animEffect presetClass="entr" presetId="10" dur="500"/>
              </p:cTn>
            </p:par>
            <p:par>
              <p:cTn id="1015" nodeType="withEffect" dur="1500" begin="2000ms" fill="hold" repeatCount="indefinite">
                <p:animEffect presetClass="emph" presetId="26" dur="1500"/>
              </p:cTn>
            </p:par>
          </p: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F2937"/>
                </a:solidFill>
                <a:latin typeface="阿里巴巴普惠体 3.0"/>
              </a:rPr>
              <a:t>灵梭 · 6 大功能模块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6567" y="1188720"/>
            <a:ext cx="36576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6567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阿里巴巴普惠体 3.0"/>
              </a:rPr>
              <a:t>📚 RAG 知识库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567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阿里巴巴普惠体 3.0"/>
              </a:rPr>
              <a:t>Tika + JVector</a:t>
            </a:r>
          </a:p>
          <a:p>
            <a:r>
              <a:t>文档向量化检索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7047" y="1188720"/>
            <a:ext cx="36576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7047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阿里巴巴普惠体 3.0"/>
              </a:rPr>
              <a:t>🔧 MCP 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047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阿里巴巴普惠体 3.0"/>
              </a:rPr>
              <a:t>8+ 服务可热插拔</a:t>
            </a:r>
          </a:p>
          <a:p>
            <a:r>
              <a:t>工具热加载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7527" y="1188720"/>
            <a:ext cx="36576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07527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阿里巴巴普惠体 3.0"/>
              </a:rPr>
              <a:t>🧠 Skill 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7527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阿里巴巴普惠体 3.0"/>
              </a:rPr>
              <a:t>.st 模板即提示词</a:t>
            </a:r>
          </a:p>
          <a:p>
            <a:r>
              <a:t>改 1 行 AI 行为变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567" y="3017520"/>
            <a:ext cx="36576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567" y="3200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7396"/>
                </a:solidFill>
                <a:latin typeface="阿里巴巴普惠体 3.0"/>
              </a:rPr>
              <a:t>💬 对话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567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阿里巴巴普惠体 3.0"/>
              </a:rPr>
              <a:t>SSE + 思维链折叠</a:t>
            </a:r>
          </a:p>
          <a:p>
            <a:r>
              <a:t>流式输出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047" y="3017520"/>
            <a:ext cx="36576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7047" y="3200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7396"/>
                </a:solidFill>
                <a:latin typeface="阿里巴巴普惠体 3.0"/>
              </a:rPr>
              <a:t>📁 文件管理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047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阿里巴巴普惠体 3.0"/>
              </a:rPr>
              <a:t>磁盘 + H2 元数据</a:t>
            </a:r>
          </a:p>
          <a:p>
            <a:r>
              <a:t>会话持久化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7527" y="3017520"/>
            <a:ext cx="36576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7527" y="3200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7396"/>
                </a:solidFill>
                <a:latin typeface="阿里巴巴普惠体 3.0"/>
              </a:rPr>
              <a:t>🛠️ 内置工具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7527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阿里巴巴普惠体 3.0"/>
              </a:rPr>
              <a:t>时间 / Git / Maven</a:t>
            </a:r>
          </a:p>
          <a:p>
            <a:r>
              <a:t>沙箱执行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阿里巴巴普惠体 3.0"/>
              </a:rPr>
              <a:t>★ 改一个 .st 文件,AI 行为就变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05 / 12</a:t>
            </a:r>
          </a:p>
        </p:txBody>
      </p:sp>
    </p:spTree>
  </p:cSld>
  <p:clrMapOvr>
    <a:masterClrMapping/>
  </p:clrMapOvr>
  <p:timing>
    <p:tnLst>
      <p:par>
        <p:cTn id="1" nodeType="tmRoot" pres="1">
          <p:tnLst>
            <p:par>
              <p:cTn id="1003" nodeType="withEffect" dur="500" begin="0ms" fill="hold">
                <p:animEffect presetClass="entr" presetId="10" dur="500"/>
              </p:cTn>
            </p:par>
            <p:par>
              <p:cTn id="1006" nodeType="withEffect" dur="500" begin="200ms" fill="hold">
                <p:animEffect presetClass="entr" presetId="10" dur="500"/>
              </p:cTn>
            </p:par>
            <p:par>
              <p:cTn id="1009" nodeType="withEffect" dur="500" begin="400ms" fill="hold">
                <p:animEffect presetClass="entr" presetId="10" dur="500"/>
              </p:cTn>
            </p:par>
            <p:par>
              <p:cTn id="1012" nodeType="withEffect" dur="500" begin="600ms" fill="hold">
                <p:animEffect presetClass="entr" presetId="10" dur="500"/>
              </p:cTn>
            </p:par>
            <p:par>
              <p:cTn id="1015" nodeType="withEffect" dur="500" begin="800ms" fill="hold">
                <p:animEffect presetClass="entr" presetId="10" dur="500"/>
              </p:cTn>
            </p:par>
            <p:par>
              <p:cTn id="1018" nodeType="withEffect" dur="500" begin="1000ms" fill="hold">
                <p:animEffect presetClass="entr" presetId="10" dur="500"/>
              </p:cTn>
            </p:par>
            <p:par>
              <p:cTn id="1006" nodeType="withEffect" dur="1500" begin="10000ms" fill="hold" repeatCount="indefinite">
                <p:animEffect presetClass="emph" presetId="26" dur="1500"/>
              </p:cTn>
            </p:par>
            <p:par>
              <p:cTn id="1009" nodeType="withEffect" dur="1500" begin="12000ms" fill="hold" repeatCount="indefinite">
                <p:animEffect presetClass="emph" presetId="26" dur="1500"/>
              </p:cTn>
            </p:par>
          </p: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" name="Picture 19" descr="p5a-calcite-federation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82880" y="4663440"/>
            <a:ext cx="3017520" cy="219456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46C1"/>
                </a:solidFill>
                <a:latin typeface="Inter"/>
              </a:rPr>
              <a:t>SQL工坊 · SQL 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F2937"/>
                </a:solidFill>
                <a:latin typeface="阿里巴巴普惠体 3.0"/>
              </a:rPr>
              <a:t>从 JDBC 散弹到 Calcite 联邦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阿里巴巴普惠体 3.0"/>
              </a:rPr>
              <a:t>★ 1 套协议代替 5 套 ORM,数据库迁移零改代码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167" y="1828800"/>
            <a:ext cx="33832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047" y="192024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E5E7EB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047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5E7EB"/>
                </a:solidFill>
                <a:latin typeface="阿里巴巴普惠体 3.0"/>
              </a:rPr>
              <a:t>裸 JDBC / MyBatis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047" y="36576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阿里巴巴普惠体 3.0"/>
              </a:rPr>
              <a:t>维护 N 套 CRUD</a:t>
            </a:r>
          </a:p>
          <a:p>
            <a:r>
              <a:t>N 套 ORM 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E7EB"/>
                </a:solidFill>
                <a:latin typeface="阿里巴巴普惠体 3.0"/>
              </a:rPr>
              <a:t>30 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4207" y="1828800"/>
            <a:ext cx="33832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7087" y="192024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6B46C1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087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B46C1"/>
                </a:solidFill>
                <a:latin typeface="阿里巴巴普惠体 3.0"/>
              </a:rPr>
              <a:t>SQL 工坊 starter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087" y="36576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阿里巴巴普惠体 3.0"/>
              </a:rPr>
              <a:t>1 套 JSON 协议</a:t>
            </a:r>
          </a:p>
          <a:p>
            <a:r>
              <a:t>跨库自动 JOIN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7087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46C1"/>
                </a:solidFill>
                <a:latin typeface="阿里巴巴普惠体 3.0"/>
              </a:rPr>
              <a:t>1 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3247" y="1828800"/>
            <a:ext cx="3383280" cy="2743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6127" y="192024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59E0B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127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阿里巴巴普惠体 3.0"/>
              </a:rPr>
              <a:t>sql-forge-mcp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27" y="36576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阿里巴巴普惠体 3.0"/>
              </a:rPr>
              <a:t>AI 5 受限通道</a:t>
            </a:r>
          </a:p>
          <a:p>
            <a:r>
              <a:t>数据不出企业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6127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阿里巴巴普惠体 3.0"/>
              </a:rPr>
              <a:t>0 直连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06 / 12</a:t>
            </a:r>
          </a:p>
        </p:txBody>
      </p:sp>
    </p:spTree>
  </p:cSld>
  <p:clrMapOvr>
    <a:masterClrMapping/>
  </p:clrMapOvr>
  <p:timing>
    <p:tnLst>
      <p:par>
        <p:cTn id="1" nodeType="tmRoot" pres="1">
          <p:tnLst>
            <p:par>
              <p:cTn id="1003" nodeType="withEffect" dur="500" begin="0ms" fill="hold">
                <p:animEffect presetClass="entr" presetId="10" dur="500"/>
              </p:cTn>
            </p:par>
            <p:par>
              <p:cTn id="1005" nodeType="withEffect" dur="500" begin="400ms" fill="hold">
                <p:animEffect presetClass="entr" presetId="10" dur="500"/>
              </p:cTn>
            </p:par>
            <p:par>
              <p:cTn id="1009" nodeType="withEffect" dur="500" begin="400ms" fill="hold">
                <p:animEffect presetClass="entr" presetId="10" dur="500"/>
              </p:cTn>
            </p:par>
            <p:par>
              <p:cTn id="1010" nodeType="withEffect" dur="500" begin="700ms" fill="hold">
                <p:animEffect presetClass="entr" presetId="10" dur="500"/>
              </p:cTn>
            </p:par>
            <p:par>
              <p:cTn id="1014" nodeType="withEffect" dur="500" begin="700ms" fill="hold">
                <p:animEffect presetClass="entr" presetId="10" dur="500"/>
              </p:cTn>
            </p:par>
            <p:par>
              <p:cTn id="1015" nodeType="withEffect" dur="500" begin="1000ms" fill="hold">
                <p:animEffect presetClass="entr" presetId="10" dur="500"/>
              </p:cTn>
            </p:par>
            <p:par>
              <p:cTn id="1019" nodeType="withEffect" dur="500" begin="1000ms" fill="hold">
                <p:animEffect presetClass="entr" presetId="10" dur="500"/>
              </p:cTn>
            </p:par>
            <p:par>
              <p:cTn id="1015" nodeType="withEffect" dur="1500" begin="2000ms" fill="hold" repeatCount="indefinite">
                <p:animEffect presetClass="emph" presetId="26" dur="1500"/>
              </p:cTn>
            </p:par>
          </p: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阿里巴巴普惠体 3.0"/>
              </a:rPr>
              <a:t>SQL工坊 · 4 starter + 6 功能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2287" y="914400"/>
            <a:ext cx="27432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2287" y="960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sql-forge-starter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6927" y="914400"/>
            <a:ext cx="2743200" cy="457200"/>
          </a:xfrm>
          <a:prstGeom prst="roundRect">
            <a:avLst/>
          </a:prstGeom>
          <a:solidFill>
            <a:srgbClr val="007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06927" y="960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sql-forge-calcite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1567" y="914400"/>
            <a:ext cx="2743200" cy="457200"/>
          </a:xfrm>
          <a:prstGeom prst="roundRect">
            <a:avLst/>
          </a:prstGeom>
          <a:solidFill>
            <a:srgbClr val="007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41567" y="960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sql-forge-web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6207" y="914400"/>
            <a:ext cx="2743200" cy="457200"/>
          </a:xfrm>
          <a:prstGeom prst="round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76207" y="960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sql-forge-mcp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567" y="1645920"/>
            <a:ext cx="3657600" cy="12801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567" y="2011680"/>
            <a:ext cx="365760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阿里巴巴普惠体 3.0"/>
              </a:rPr>
              <a:t>🔌 JSON CRUD 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047" y="1645920"/>
            <a:ext cx="3657600" cy="12801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7047" y="2011680"/>
            <a:ext cx="365760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阿里巴巴普惠体 3.0"/>
              </a:rPr>
              <a:t>🌐 Calcite 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7527" y="1645920"/>
            <a:ext cx="3657600" cy="12801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7527" y="2011680"/>
            <a:ext cx="365760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阿里巴巴普惠体 3.0"/>
              </a:rPr>
              <a:t>🔒 MCP 5 受限 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567" y="3108960"/>
            <a:ext cx="3657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6567" y="3474720"/>
            <a:ext cx="365760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280"/>
                </a:solidFill>
                <a:latin typeface="阿里巴巴普惠体 3.0"/>
              </a:rPr>
              <a:t>🎨 Amis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67047" y="3108960"/>
            <a:ext cx="3657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67047" y="3474720"/>
            <a:ext cx="365760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280"/>
                </a:solidFill>
                <a:latin typeface="阿里巴巴普惠体 3.0"/>
              </a:rPr>
              <a:t>🏗️ 实体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7527" y="3108960"/>
            <a:ext cx="3657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7527" y="3474720"/>
            <a:ext cx="365760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280"/>
                </a:solidFill>
                <a:latin typeface="阿里巴巴普惠体 3.0"/>
              </a:rPr>
              <a:t>🛡️ 零直连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阿里巴巴普惠体 3.0"/>
              </a:rPr>
              <a:t>★ AI 通过 5 个受限通道安全对话业务库,数据不出企业</a:t>
            </a:r>
          </a:p>
        </p:txBody>
      </p:sp>
      <p:sp>
        <p:nvSpPr>
          <p:cNvPr id="1022" name="TextBox 1021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07 / 12</a:t>
            </a:r>
          </a:p>
        </p:txBody>
      </p:sp>
    </p:spTree>
  </p:cSld>
  <p:clrMapOvr>
    <a:masterClrMapping/>
  </p:clrMapOvr>
  <p:timing>
    <p:tnLst>
      <p:par>
        <p:cTn id="1" nodeType="tmRoot" pres="1">
          <p:tnLst>
            <p:par>
              <p:cTn id="1003" nodeType="withEffect" dur="500" begin="0ms" fill="hold">
                <p:animEffect presetClass="entr" presetId="10" dur="500"/>
              </p:cTn>
            </p:par>
            <p:par>
              <p:cTn id="1005" nodeType="withEffect" dur="500" begin="200ms" fill="hold">
                <p:animEffect presetClass="entr" presetId="10" dur="500"/>
              </p:cTn>
            </p:par>
            <p:par>
              <p:cTn id="1007" nodeType="withEffect" dur="500" begin="400ms" fill="hold">
                <p:animEffect presetClass="entr" presetId="10" dur="500"/>
              </p:cTn>
            </p:par>
            <p:par>
              <p:cTn id="1009" nodeType="withEffect" dur="500" begin="600ms" fill="hold">
                <p:animEffect presetClass="entr" presetId="10" dur="500"/>
              </p:cTn>
            </p:par>
            <p:par>
              <p:cTn id="1011" nodeType="withEffect" dur="500" begin="1000ms" fill="hold">
                <p:animEffect presetClass="entr" presetId="10" dur="500"/>
              </p:cTn>
            </p:par>
            <p:par>
              <p:cTn id="1013" nodeType="withEffect" dur="500" begin="1200ms" fill="hold">
                <p:animEffect presetClass="entr" presetId="10" dur="500"/>
              </p:cTn>
            </p:par>
            <p:par>
              <p:cTn id="1015" nodeType="withEffect" dur="500" begin="1400ms" fill="hold">
                <p:animEffect presetClass="entr" presetId="10" dur="500"/>
              </p:cTn>
            </p:par>
            <p:par>
              <p:cTn id="1017" nodeType="withEffect" dur="500" begin="1600ms" fill="hold">
                <p:animEffect presetClass="entr" presetId="10" dur="500"/>
              </p:cTn>
            </p:par>
            <p:par>
              <p:cTn id="1019" nodeType="withEffect" dur="500" begin="1800ms" fill="hold">
                <p:animEffect presetClass="entr" presetId="10" dur="500"/>
              </p:cTn>
            </p:par>
            <p:par>
              <p:cTn id="1021" nodeType="withEffect" dur="500" begin="2000ms" fill="hold">
                <p:animEffect presetClass="entr" presetId="10" dur="500"/>
              </p:cTn>
            </p:par>
            <p:par>
              <p:cTn id="1011" nodeType="withEffect" dur="1500" begin="15000ms" fill="hold" repeatCount="indefinite">
                <p:animEffect presetClass="emph" presetId="26" dur="1500"/>
              </p:cTn>
            </p:par>
            <p:par>
              <p:cTn id="1013" nodeType="withEffect" dur="1500" begin="17000ms" fill="hold" repeatCount="indefinite">
                <p:animEffect presetClass="emph" presetId="26" dur="1500"/>
              </p:cTn>
            </p:par>
            <p:par>
              <p:cTn id="1015" nodeType="withEffect" dur="1500" begin="19000ms" fill="hold" repeatCount="indefinite">
                <p:animEffect presetClass="emph" presetId="26" dur="1500"/>
              </p:cTn>
            </p:par>
          </p: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F2937"/>
                </a:solidFill>
                <a:latin typeface="阿里巴巴普惠体 3.0"/>
              </a:rPr>
              <a:t>演示 1 · 一句话出分析报告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阿里巴巴普惠体 3.0"/>
              </a:rPr>
              <a:t>"上个月各品类销量怎么样?"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207" y="2286000"/>
            <a:ext cx="1828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207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7280"/>
                </a:solidFill>
                <a:latin typeface="Inter"/>
              </a:rPr>
              <a:t>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207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280"/>
                </a:solidFill>
                <a:latin typeface="阿里巴巴普惠体 3.0"/>
              </a:rPr>
              <a:t>👤 用户提问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78327" y="2286000"/>
            <a:ext cx="1828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78327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396"/>
                </a:solidFill>
                <a:latin typeface="Inter"/>
              </a:rPr>
              <a:t>S2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8327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396"/>
                </a:solidFill>
                <a:latin typeface="阿里巴巴普惠体 3.0"/>
              </a:rPr>
              <a:t>🧠 NL2SQL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81447" y="2286000"/>
            <a:ext cx="1828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1447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396"/>
                </a:solidFill>
                <a:latin typeface="Inter"/>
              </a:rPr>
              <a:t>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447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396"/>
                </a:solidFill>
                <a:latin typeface="阿里巴巴普惠体 3.0"/>
              </a:rPr>
              <a:t>📊 读表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4567" y="2286000"/>
            <a:ext cx="1828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4567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396"/>
                </a:solidFill>
                <a:latin typeface="Inter"/>
              </a:rPr>
              <a:t>S4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4567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396"/>
                </a:solidFill>
                <a:latin typeface="阿里巴巴普惠体 3.0"/>
              </a:rPr>
              <a:t>⚙️ 跨库 JOIN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87687" y="2286000"/>
            <a:ext cx="1828800" cy="2286000"/>
          </a:xfrm>
          <a:prstGeom prst="roundRect">
            <a:avLst/>
          </a:prstGeom>
          <a:solidFill>
            <a:srgbClr val="FEF3C7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7687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Inter"/>
              </a:rPr>
              <a:t>S5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7687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阿里巴巴普惠体 3.0"/>
              </a:rPr>
              <a:t>📄 报告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9727" y="3246120"/>
            <a:ext cx="182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2847" y="3246120"/>
            <a:ext cx="182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5967" y="3246120"/>
            <a:ext cx="182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Inter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9087" y="3246120"/>
            <a:ext cx="182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46C1"/>
                </a:solidFill>
                <a:latin typeface="阿里巴巴普惠体 3.0"/>
              </a:rPr>
              <a:t>▼ 接下来看 42 秒真实录屏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08 / 12</a:t>
            </a:r>
          </a:p>
        </p:txBody>
      </p:sp>
    </p:spTree>
  </p:cSld>
  <p:clrMapOvr>
    <a:masterClrMapping/>
  </p:clrMapOvr>
  <p:timing>
    <p:tnLst>
      <p:par>
        <p:cTn id="1" nodeType="tmRoot" pres="1">
          <p:tnLst>
            <p:par>
              <p:cTn id="1004" nodeType="withEffect" dur="500" begin="0ms" fill="hold">
                <p:animEffect presetClass="entr" presetId="10" dur="500"/>
              </p:cTn>
            </p:par>
            <p:par>
              <p:cTn id="1007" nodeType="withEffect" dur="500" begin="400ms" fill="hold">
                <p:animEffect presetClass="entr" presetId="10" dur="500"/>
              </p:cTn>
            </p:par>
            <p:par>
              <p:cTn id="1010" nodeType="withEffect" dur="500" begin="800ms" fill="hold">
                <p:animEffect presetClass="entr" presetId="10" dur="500"/>
              </p:cTn>
            </p:par>
            <p:par>
              <p:cTn id="1013" nodeType="withEffect" dur="500" begin="1200ms" fill="hold">
                <p:animEffect presetClass="entr" presetId="10" dur="500"/>
              </p:cTn>
            </p:par>
            <p:par>
              <p:cTn id="1016" nodeType="withEffect" dur="500" begin="1600ms" fill="hold">
                <p:animEffect presetClass="entr" presetId="10" dur="500"/>
              </p:cTn>
            </p:par>
            <p:par>
              <p:cTn id="1016" nodeType="withEffect" dur="1500" begin="2500ms" fill="hold" repeatCount="indefinite">
                <p:animEffect presetClass="emph" presetId="26" dur="1500"/>
              </p:cTn>
            </p:par>
          </p: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F2937"/>
                </a:solidFill>
                <a:latin typeface="阿里巴巴普惠体 3.0"/>
              </a:rPr>
              <a:t>演示 2 · 一句话生成 CRUD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阿里巴巴普惠体 3.0"/>
              </a:rPr>
              <a:t>"做一个商品管理 CRUD 页面"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207" y="2286000"/>
            <a:ext cx="1828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207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7280"/>
                </a:solidFill>
                <a:latin typeface="Inter"/>
              </a:rPr>
              <a:t>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207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280"/>
                </a:solidFill>
                <a:latin typeface="阿里巴巴普惠体 3.0"/>
              </a:rPr>
              <a:t>👤 用户提问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78327" y="2286000"/>
            <a:ext cx="1828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78327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46C1"/>
                </a:solidFill>
                <a:latin typeface="Inter"/>
              </a:rPr>
              <a:t>S2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8327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46C1"/>
                </a:solidFill>
                <a:latin typeface="阿里巴巴普惠体 3.0"/>
              </a:rPr>
              <a:t>🧠 web.st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81447" y="2286000"/>
            <a:ext cx="1828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1447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46C1"/>
                </a:solidFill>
                <a:latin typeface="Inter"/>
              </a:rPr>
              <a:t>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447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46C1"/>
                </a:solidFill>
                <a:latin typeface="阿里巴巴普惠体 3.0"/>
              </a:rPr>
              <a:t>📊 读表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4567" y="2286000"/>
            <a:ext cx="1828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4567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46C1"/>
                </a:solidFill>
                <a:latin typeface="Inter"/>
              </a:rPr>
              <a:t>S4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4567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46C1"/>
                </a:solidFill>
                <a:latin typeface="阿里巴巴普惠体 3.0"/>
              </a:rPr>
              <a:t>🔧 生成 Amis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87687" y="2286000"/>
            <a:ext cx="1828800" cy="2286000"/>
          </a:xfrm>
          <a:prstGeom prst="roundRect">
            <a:avLst/>
          </a:prstGeom>
          <a:solidFill>
            <a:srgbClr val="FEF3C7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7687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Inter"/>
              </a:rPr>
              <a:t>S5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7687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阿里巴巴普惠体 3.0"/>
              </a:rPr>
              <a:t>🌐 URL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9727" y="3246120"/>
            <a:ext cx="182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2847" y="3246120"/>
            <a:ext cx="182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5967" y="3246120"/>
            <a:ext cx="182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Inter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9087" y="3246120"/>
            <a:ext cx="182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46C1"/>
                </a:solidFill>
                <a:latin typeface="阿里巴巴普惠体 3.0"/>
              </a:rPr>
              <a:t>▼ 接下来看 40 秒真实录屏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09 / 12</a:t>
            </a:r>
          </a:p>
        </p:txBody>
      </p:sp>
    </p:spTree>
  </p:cSld>
  <p:clrMapOvr>
    <a:masterClrMapping/>
  </p:clrMapOvr>
  <p:timing>
    <p:tnLst>
      <p:par>
        <p:cTn id="1" nodeType="tmRoot" pres="1">
          <p:tnLst>
            <p:par>
              <p:cTn id="1004" nodeType="withEffect" dur="500" begin="0ms" fill="hold">
                <p:animEffect presetClass="entr" presetId="10" dur="500"/>
              </p:cTn>
            </p:par>
            <p:par>
              <p:cTn id="1007" nodeType="withEffect" dur="500" begin="400ms" fill="hold">
                <p:animEffect presetClass="entr" presetId="10" dur="500"/>
              </p:cTn>
            </p:par>
            <p:par>
              <p:cTn id="1010" nodeType="withEffect" dur="500" begin="800ms" fill="hold">
                <p:animEffect presetClass="entr" presetId="10" dur="500"/>
              </p:cTn>
            </p:par>
            <p:par>
              <p:cTn id="1013" nodeType="withEffect" dur="500" begin="1200ms" fill="hold">
                <p:animEffect presetClass="entr" presetId="10" dur="500"/>
              </p:cTn>
            </p:par>
            <p:par>
              <p:cTn id="1016" nodeType="withEffect" dur="500" begin="1600ms" fill="hold">
                <p:animEffect presetClass="entr" presetId="10" dur="500"/>
              </p:cTn>
            </p:par>
            <p:par>
              <p:cTn id="1016" nodeType="withEffect" dur="1500" begin="2500ms" fill="hold" repeatCount="indefinite">
                <p:animEffect presetClass="emph" presetId="26" dur="1500"/>
              </p:cTn>
            </p:par>
          </p: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阿里巴巴普惠体 3.0"/>
              </a:rPr>
              <a:t>实战测试 · 7 张表 / 0 漂移 / 节省 &gt;80%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68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7396"/>
                </a:solidFill>
                <a:latin typeface="阿里巴巴普惠体 3.0"/>
              </a:rPr>
              <a:t>技术派 · 4 项测试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阿里巴巴普惠体 3.0"/>
              </a:rPr>
              <a:t>✓ 7 张表测试(简单/字典/自关联)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745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阿里巴巴普惠体 3.0"/>
              </a:rPr>
              <a:t>✓ 0 漂移 / 0 错误链接 / 0 乱码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阿里巴巴普惠体 3.0"/>
              </a:rPr>
              <a:t>✓ 5/5 AI 字段推断自检通过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80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阿里巴巴普惠体 3.0"/>
              </a:rPr>
              <a:t>✓ 节省 CRUD 开发时间 &gt;80%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868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B46C1"/>
                </a:solidFill>
                <a:latin typeface="阿里巴巴普惠体 3.0"/>
              </a:rPr>
              <a:t>开发时间 · 3 种方案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011680"/>
            <a:ext cx="822960" cy="2560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91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5E7EB"/>
                </a:solidFill>
                <a:latin typeface="阿里巴巴普惠体 3.0"/>
              </a:rPr>
              <a:t>30天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7091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阿里巴巴普惠体 3.0"/>
              </a:rPr>
              <a:t>传统开发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32120" y="3718560"/>
            <a:ext cx="822960" cy="85343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3398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阿里巴巴普惠体 3.0"/>
              </a:rPr>
              <a:t>10天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47091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阿里巴巴普惠体 3.0"/>
              </a:rPr>
              <a:t>集成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4486656"/>
            <a:ext cx="822960" cy="85343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1666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阿里巴巴普惠体 3.0"/>
              </a:rPr>
              <a:t>1天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7091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阿里巴巴普惠体 3.0"/>
              </a:rPr>
              <a:t>JavaBrain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868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B46C1"/>
                </a:solidFill>
                <a:latin typeface="阿里巴巴普惠体 3.0"/>
              </a:rPr>
              <a:t>商业派 · 5 项对比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371600"/>
            <a:ext cx="438912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阿里巴巴普惠体 3.0"/>
              </a:rPr>
              <a:t>业务取数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1417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1828800"/>
            <a:ext cx="4389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1874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阿里巴巴普惠体 3.0"/>
              </a:rPr>
              <a:t>CRUD 页面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18745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2286000"/>
            <a:ext cx="438912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阿里巴巴普惠体 3.0"/>
              </a:rPr>
              <a:t>跨库 JOIN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2331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2743200"/>
            <a:ext cx="4389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阿里巴巴普惠体 3.0"/>
              </a:rPr>
              <a:t>私有化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2788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3200400"/>
            <a:ext cx="438912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阿里巴巴普惠体 3.0"/>
              </a:rPr>
              <a:t>列名识别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3246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760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阿里巴巴普惠体 3.0"/>
              </a:rPr>
              <a:t>★ JavaBrain 在 安全 + 智能 + 私有化 三角都做到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10 / 12</a:t>
            </a:r>
          </a:p>
        </p:txBody>
      </p:sp>
    </p:spTree>
  </p:cSld>
  <p:clrMapOvr>
    <a:masterClrMapping/>
  </p:clrMapOvr>
  <p:timing>
    <p:tnLst>
      <p:par>
        <p:cTn id="1" nodeType="tmRoot" pres="1">
          <p:tnLst>
            <p:par>
              <p:cTn id="1004" nodeType="withEffect" dur="400" begin="0ms" fill="hold">
                <p:animEffect presetClass="entr" presetId="10" dur="400"/>
              </p:cTn>
            </p:par>
            <p:par>
              <p:cTn id="1005" nodeType="withEffect" dur="400" begin="225ms" fill="hold">
                <p:animEffect presetClass="entr" presetId="10" dur="400"/>
              </p:cTn>
            </p:par>
            <p:par>
              <p:cTn id="1006" nodeType="withEffect" dur="400" begin="450ms" fill="hold">
                <p:animEffect presetClass="entr" presetId="10" dur="400"/>
              </p:cTn>
            </p:par>
            <p:par>
              <p:cTn id="1007" nodeType="withEffect" dur="400" begin="675ms" fill="hold">
                <p:animEffect presetClass="entr" presetId="10" dur="400"/>
              </p:cTn>
            </p:par>
            <p:par>
              <p:cTn id="1009" nodeType="withEffect" dur="400" begin="1200ms" fill="hold">
                <p:animEffect presetClass="entr" presetId="10" dur="400"/>
              </p:cTn>
            </p:par>
            <p:par>
              <p:cTn id="1012" nodeType="withEffect" dur="400" begin="1400ms" fill="hold">
                <p:animEffect presetClass="entr" presetId="10" dur="400"/>
              </p:cTn>
            </p:par>
            <p:par>
              <p:cTn id="1015" nodeType="withEffect" dur="400" begin="1600ms" fill="hold">
                <p:animEffect presetClass="entr" presetId="10" dur="400"/>
              </p:cTn>
            </p:par>
            <p:par>
              <p:cTn id="1020" nodeType="withEffect" dur="400" begin="2100ms" fill="hold">
                <p:animEffect presetClass="entr" presetId="10" dur="400"/>
              </p:cTn>
            </p:par>
            <p:par>
              <p:cTn id="1023" nodeType="withEffect" dur="400" begin="2300ms" fill="hold">
                <p:animEffect presetClass="entr" presetId="10" dur="400"/>
              </p:cTn>
            </p:par>
            <p:par>
              <p:cTn id="1026" nodeType="withEffect" dur="400" begin="2500ms" fill="hold">
                <p:animEffect presetClass="entr" presetId="10" dur="400"/>
              </p:cTn>
            </p:par>
            <p:par>
              <p:cTn id="1029" nodeType="withEffect" dur="400" begin="2700ms" fill="hold">
                <p:animEffect presetClass="entr" presetId="10" dur="400"/>
              </p:cTn>
            </p:par>
            <p:par>
              <p:cTn id="1032" nodeType="withEffect" dur="400" begin="2900ms" fill="hold">
                <p:animEffect presetClass="entr" presetId="10" dur="400"/>
              </p:cTn>
            </p:par>
            <p:par>
              <p:cTn id="1007" nodeType="withEffect" dur="1500" begin="12000ms" fill="hold" repeatCount="indefinite">
                <p:animEffect presetClass="emph" presetId="26" dur="1500"/>
              </p:cTn>
            </p:par>
          </p: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p9_dual_timelin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200" y="868680"/>
            <a:ext cx="11277295" cy="109728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F2937"/>
                </a:solidFill>
                <a:latin typeface="阿里巴巴普惠体 3.0"/>
              </a:rPr>
              <a:t>JavaBrain 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19456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7396"/>
                </a:solidFill>
                <a:latin typeface="阿里巴巴普惠体 3.0"/>
              </a:rPr>
              <a:t>灵梭 · AI 赋能中心 (主线 60%)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697480"/>
            <a:ext cx="694944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34056"/>
            <a:ext cx="6766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7396"/>
                </a:solidFill>
                <a:latin typeface="阿里巴巴普惠体 3.0"/>
              </a:rPr>
              <a:t>1. Agentic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53512"/>
            <a:ext cx="6766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阿里巴巴普惠体 3.0"/>
              </a:rPr>
              <a:t>智能体工作流:自动拆解 + 多步推理 + 反思重试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246120"/>
            <a:ext cx="694944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82696"/>
            <a:ext cx="6766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7396"/>
                </a:solidFill>
                <a:latin typeface="阿里巴巴普惠体 3.0"/>
              </a:rPr>
              <a:t>2. Graph-RAG + 实时认知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02152"/>
            <a:ext cx="6766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阿里巴巴普惠体 3.0"/>
              </a:rPr>
              <a:t>知识图谱融合 + 毫秒级增量更新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794760"/>
            <a:ext cx="694944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6766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7396"/>
                </a:solidFill>
                <a:latin typeface="阿里巴巴普惠体 3.0"/>
              </a:rPr>
              <a:t>3. 多模态交互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50792"/>
            <a:ext cx="6766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阿里巴巴普惠体 3.0"/>
              </a:rPr>
              <a:t>语音 / 图像 / AI 悬浮球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343400"/>
            <a:ext cx="694944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379976"/>
            <a:ext cx="6766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7396"/>
                </a:solidFill>
                <a:latin typeface="阿里巴巴普惠体 3.0"/>
              </a:rPr>
              <a:t>4. Skill 插件生态市场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99432"/>
            <a:ext cx="6766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阿里巴巴普惠体 3.0"/>
              </a:rPr>
              <a:t>标准化打包 + 私有 Skill 市场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46C1"/>
                </a:solidFill>
                <a:latin typeface="阿里巴巴普惠体 3.0"/>
              </a:rPr>
              <a:t>SQL工坊 · 数据引擎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697480"/>
            <a:ext cx="45720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273405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46C1"/>
                </a:solidFill>
                <a:latin typeface="阿里巴巴普惠体 3.0"/>
              </a:rPr>
              <a:t>1. Text-to-SQL 终极形态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95351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阿里巴巴普惠体 3.0"/>
              </a:rPr>
              <a:t>准确率 &gt;95% · 本地代码大模型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3246120"/>
            <a:ext cx="45720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328269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46C1"/>
                </a:solidFill>
                <a:latin typeface="阿里巴巴普惠体 3.0"/>
              </a:rPr>
              <a:t>2. HTAP 湖仓一体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50215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阿里巴巴普惠体 3.0"/>
              </a:rPr>
              <a:t>Flink + Iceberg/Hudi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3794760"/>
            <a:ext cx="45720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383133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46C1"/>
                </a:solidFill>
                <a:latin typeface="阿里巴巴普惠体 3.0"/>
              </a:rPr>
              <a:t>3. 智能数据治理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05079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阿里巴巴普惠体 3.0"/>
              </a:rPr>
              <a:t>血缘 + 脱敏 + 审计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4343400"/>
            <a:ext cx="45720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437997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46C1"/>
                </a:solidFill>
                <a:latin typeface="阿里巴巴普惠体 3.0"/>
              </a:rPr>
              <a:t>4. Serverless 弹性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59943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阿里巴巴普惠体 3.0"/>
              </a:rPr>
              <a:t>计算/存储分离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5120640"/>
            <a:ext cx="8534095" cy="320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0" y="5138927"/>
            <a:ext cx="853409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阿里巴巴普惠体 3.0"/>
              </a:rPr>
              <a:t>★ 让 AI 懂数据,让数据懂 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0" y="5504688"/>
            <a:ext cx="8534095" cy="320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522975"/>
            <a:ext cx="853409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阿里巴巴普惠体 3.0"/>
              </a:rPr>
              <a:t>★ 终极形态:对话式数据分析 (CDA) 标杆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0" y="5888736"/>
            <a:ext cx="8534095" cy="320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0" y="5907023"/>
            <a:ext cx="853409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阿里巴巴普惠体 3.0"/>
              </a:rPr>
              <a:t>★ 零代码 AI 应用工厂 (Amis + Skill 绑定)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11 / 12</a:t>
            </a:r>
          </a:p>
        </p:txBody>
      </p:sp>
    </p:spTree>
  </p:cSld>
  <p:clrMapOvr>
    <a:masterClrMapping/>
  </p:clrMapOvr>
  <p:timing>
    <p:tnLst>
      <p:par>
        <p:cTn id="1" nodeType="tmRoot" pres="1">
          <p:tnLst>
            <p:par>
              <p:cTn id="1002" nodeType="withEffect" dur="500" begin="0ms" fill="hold">
                <p:animEffect presetClass="entr" presetId="10" dur="500"/>
              </p:cTn>
            </p:par>
            <p:par>
              <p:cTn id="1005" nodeType="withEffect" dur="500" begin="400ms" fill="hold">
                <p:animEffect presetClass="entr" presetId="10" dur="500"/>
              </p:cTn>
            </p:par>
            <p:par>
              <p:cTn id="1008" nodeType="withEffect" dur="500" begin="600ms" fill="hold">
                <p:animEffect presetClass="entr" presetId="10" dur="500"/>
              </p:cTn>
            </p:par>
            <p:par>
              <p:cTn id="1011" nodeType="withEffect" dur="500" begin="800ms" fill="hold">
                <p:animEffect presetClass="entr" presetId="10" dur="500"/>
              </p:cTn>
            </p:par>
            <p:par>
              <p:cTn id="1014" nodeType="withEffect" dur="500" begin="1000ms" fill="hold">
                <p:animEffect presetClass="entr" presetId="10" dur="500"/>
              </p:cTn>
            </p:par>
            <p:par>
              <p:cTn id="1018" nodeType="withEffect" dur="500" begin="1200ms" fill="hold">
                <p:animEffect presetClass="entr" presetId="10" dur="500"/>
              </p:cTn>
            </p:par>
            <p:par>
              <p:cTn id="1021" nodeType="withEffect" dur="500" begin="1400ms" fill="hold">
                <p:animEffect presetClass="entr" presetId="10" dur="500"/>
              </p:cTn>
            </p:par>
            <p:par>
              <p:cTn id="1024" nodeType="withEffect" dur="500" begin="1600ms" fill="hold">
                <p:animEffect presetClass="entr" presetId="10" dur="500"/>
              </p:cTn>
            </p:par>
            <p:par>
              <p:cTn id="1027" nodeType="withEffect" dur="500" begin="1800ms" fill="hold">
                <p:animEffect presetClass="entr" presetId="10" dur="500"/>
              </p:cTn>
            </p:par>
            <p:par>
              <p:cTn id="1030" nodeType="withEffect" dur="500" begin="2000ms" fill="hold">
                <p:animEffect presetClass="entr" presetId="10" dur="500"/>
              </p:cTn>
            </p:par>
            <p:par>
              <p:cTn id="1032" nodeType="withEffect" dur="500" begin="2300ms" fill="hold">
                <p:animEffect presetClass="entr" presetId="10" dur="500"/>
              </p:cTn>
            </p:par>
            <p:par>
              <p:cTn id="1034" nodeType="withEffect" dur="500" begin="2600ms" fill="hold">
                <p:animEffect presetClass="entr" presetId="10" dur="500"/>
              </p:cTn>
            </p:par>
            <p:par>
              <p:cTn id="1032" nodeType="withEffect" dur="1500" begin="3500ms" fill="hold" repeatCount="indefinite">
                <p:animEffect presetClass="emph" presetId="26" dur="1500"/>
              </p:cTn>
            </p:par>
          </p: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10_bra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45720"/>
            <a:ext cx="137160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85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F2937"/>
                </a:solidFill>
                <a:latin typeface="Inter"/>
              </a:rPr>
              <a:t>JavaBrain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阿里巴巴普惠体 3.0"/>
              </a:rPr>
              <a:t>1. 开箱即用 + 私有化 + 业务语义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阿里巴巴普惠体 3.0"/>
              </a:rPr>
              <a:t>2. 一行命令启动,一个文件改 AI 行为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阿里巴巴普惠体 3.0"/>
              </a:rPr>
              <a:t>3. 让每个 Spring Boot 项目都自带 AI 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840480"/>
            <a:ext cx="7619695" cy="640080"/>
          </a:xfrm>
          <a:prstGeom prst="roundRect">
            <a:avLst/>
          </a:prstGeom>
          <a:solidFill>
            <a:srgbClr val="FEF3C7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886200"/>
            <a:ext cx="7619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阿里巴巴普惠体 3.0"/>
              </a:rPr>
              <a:t>★ 让 AI 懂数据,让数据懂 AI — 打造对话式数据分析标杆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4754880"/>
            <a:ext cx="7619695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4800600"/>
            <a:ext cx="7619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0B981"/>
                </a:solidFill>
                <a:latin typeface="JetBrains Mono"/>
              </a:rPr>
              <a:t>$ Started LoomAgentApplication in 25.394 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JetBrains Mono"/>
              </a:rPr>
              <a:t>github.com/wb04307201/spring-ai-loom-agent  ·  gitee.com/wb04307201/spring-ai-loom-agent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阿里巴巴普惠体 3.0"/>
              </a:rPr>
              <a:t>感谢聆听 · Star 支持: github.com/wb04307201/spring-ai-loom-agent</a:t>
            </a:r>
          </a:p>
        </p:txBody>
      </p:sp>
      <p:sp>
        <p:nvSpPr>
          <p:cNvPr id="1010" name="TextBox 1009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12 / 12</a:t>
            </a:r>
          </a:p>
        </p:txBody>
      </p:sp>
    </p:spTree>
  </p:cSld>
  <p:clrMapOvr>
    <a:masterClrMapping/>
  </p:clrMapOvr>
  <p:timing>
    <p:tnLst>
      <p:par>
        <p:cTn id="1" nodeType="tmRoot" pres="1">
          <p:tnLst>
            <p:par>
              <p:cTn id="1002" nodeType="withEffect" dur="8000" begin="0ms" fill="hold" repeatCount="indefinite">
                <p:animEffect presetClass="emph" presetId="8" dur="8000"/>
              </p:cTn>
            </p:par>
            <p:par>
              <p:cTn id="1003" nodeType="withEffect" dur="500" begin="0ms" fill="hold">
                <p:animEffect presetClass="entr" presetId="10" dur="500"/>
              </p:cTn>
            </p:par>
            <p:par>
              <p:cTn id="1004" nodeType="withEffect" dur="500" begin="600ms" fill="hold">
                <p:animEffect presetClass="entr" presetId="10" dur="500"/>
              </p:cTn>
            </p:par>
            <p:par>
              <p:cTn id="1005" nodeType="withEffect" dur="500" begin="1200ms" fill="hold">
                <p:animEffect presetClass="entr" presetId="10" dur="500"/>
              </p:cTn>
            </p:par>
            <p:par>
              <p:cTn id="1006" nodeType="withEffect" dur="500" begin="1800ms" fill="hold">
                <p:animEffect presetClass="entr" presetId="10" dur="500"/>
              </p:cTn>
            </p:par>
            <p:par>
              <p:cTn id="1007" nodeType="withEffect" dur="1500" begin="6000ms" fill="hold" repeatCount="indefinite">
                <p:animEffect presetClass="emph" presetId="26" dur="1500"/>
              </p:cTn>
            </p:par>
            <p:par>
              <p:cTn id="1009" nodeType="withEffect" dur="500" begin="4000ms" fill="hold">
                <p:animEffect presetClass="entr" presetId="10" dur="500"/>
              </p:cTn>
            </p:par>
          </p: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