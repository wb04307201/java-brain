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84167" y="1371600"/>
            <a:ext cx="1097280" cy="109728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93895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35297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654753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896154" y="1283817"/>
            <a:ext cx="175564" cy="175564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47207" y="1371600"/>
            <a:ext cx="1097280" cy="109728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56935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98337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17793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9194" y="1283817"/>
            <a:ext cx="175564" cy="175564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10247" y="1371600"/>
            <a:ext cx="109728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19975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61377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0833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22234" y="1283817"/>
            <a:ext cx="175564" cy="1755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89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502920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507492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阿里巴巴普惠体 3.0"/>
              </a:rPr>
              <a:t>3 组件 · 1 starter · 0 漂移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9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400ms" fill="hold">
              <p:animEffect presetClass="entr" presetId="10" dur="5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接入 AI 的 3 个痛点 vs JavaBrain 的 3 个解法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108960"/>
            <a:ext cx="3047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19695" y="18288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695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695" y="420624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= 1440 倍效率提升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2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3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1500" begin="5000ms" fill="hold" repeatCount="indefinite">
              <p:animEffect presetClass="emph" presetId="26" dur="1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395063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6114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740706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21757" y="1305763"/>
            <a:ext cx="131673" cy="131673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384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6663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7714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12306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93357" y="1305763"/>
            <a:ext cx="131673" cy="131673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00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8263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9314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83906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664958" y="1305763"/>
            <a:ext cx="131673" cy="131673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647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20040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✓ 三个都是依赖库,不是产品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749039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✓ 组件化、按需引入,各自独立可用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29768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✓ ├── 灵梭 / SQL工坊 / SQL工坊 MCP 都可单独用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84632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✓ 组合起来 = 企业 AI 落地完整闭环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Spring AI 一键启动 · 改 .st 文件 AI 行为就变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📦 6 大功能模块</a:t>
            </a:r>
          </a:p>
          <a:p>
            <a:r>
              <a:t>一站集成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MCP 可热插拔</a:t>
            </a:r>
          </a:p>
          <a:p>
            <a:r>
              <a:t>8+ 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🧠 Skill 模板</a:t>
            </a:r>
          </a:p>
          <a:p>
            <a:r>
              <a:t>改 .st 即生效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💬 流式对话 + 思维链</a:t>
            </a:r>
          </a:p>
          <a:p>
            <a:r>
              <a:t>SSE + 可折叠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6 大功能模块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📚 RAG 知识库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F2937"/>
                </a:solidFill>
                <a:latin typeface="阿里巴巴普惠体 3.0"/>
              </a:rPr>
              <a:t>JSON CRUD + Calcite 联邦 + Amis 低代码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8668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8668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</a:t>
            </a:r>
          </a:p>
          <a:p>
            <a:r>
              <a:t>一套协议 5 method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3007" y="2286000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246888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联邦</a:t>
            </a:r>
          </a:p>
          <a:p>
            <a:r>
              <a:t>跨 MySQL+PG+H2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86687" y="3749039"/>
            <a:ext cx="4572000" cy="1188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668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🎨 Amis 低代码</a:t>
            </a:r>
          </a:p>
          <a:p>
            <a:r>
              <a:t>JSON 模板 + Console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3749039"/>
            <a:ext cx="45720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3007" y="393192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🔒 MCP 5 受限工具</a:t>
            </a:r>
          </a:p>
          <a:p>
            <a:r>
              <a:t>数据不出企业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▼ 下一页 · 4 starter + 6 功能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2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1500" begin="4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7 张表测试(简单/字典/自关联/多外键)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3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0 漂移 / 0 错误链接 / 0 中文乱码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5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17830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1945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0" y="2240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517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697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697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108960"/>
            <a:ext cx="5029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154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566160"/>
            <a:ext cx="502920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611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611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1" nodeType="withEffect" dur="500" begin="30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4" nodeType="withEffect" dur="500" begin="37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7" nodeType="withEffect" dur="500" begin="44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0" nodeType="withEffect" dur="500" begin="51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23" nodeType="withEffect" dur="500" begin="5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3 组件 · 2 仓库 · 路线图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09447" y="1188720"/>
            <a:ext cx="347472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447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447" y="1737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Inter"/>
              </a:rPr>
              <a:t>★ 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447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spring-ai-loom-agent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58487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8487" y="1737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Inter"/>
              </a:rPr>
              <a:t>★ 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8487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sql-forge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7527" y="1188720"/>
            <a:ext cx="347472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527" y="12801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7527" y="17373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Inter"/>
              </a:rPr>
              <a:t>★ 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7527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sql-forge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5207" y="4114800"/>
            <a:ext cx="2286000" cy="731520"/>
          </a:xfrm>
          <a:prstGeom prst="roundRect">
            <a:avLst/>
          </a:prstGeom>
          <a:solidFill>
            <a:srgbClr val="F59E0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5207" y="4251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阿里巴巴普惠体 3.0"/>
              </a:rPr>
              <a:t>V1.0 当前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61207" y="4480560"/>
            <a:ext cx="365760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26967" y="4114800"/>
            <a:ext cx="22860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26967" y="4251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阿里巴巴普惠体 3.0"/>
              </a:rPr>
              <a:t>V1.1 多租户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12967" y="4480560"/>
            <a:ext cx="365760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78727" y="4114800"/>
            <a:ext cx="22860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8727" y="4251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阿里巴巴普惠体 3.0"/>
              </a:rPr>
              <a:t>V1.2 移动端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64727" y="4480560"/>
            <a:ext cx="365760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930487" y="4114800"/>
            <a:ext cx="22860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0487" y="42519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阿里巴巴普惠体 3.0"/>
              </a:rPr>
              <a:t>V1.3 工作流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3 个组件 · 2 个仓库 · 各自独立维护 · 按需组合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8" nodeType="withEffect" dur="500" begin="3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2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阿里巴巴普惠体 3.0"/>
              </a:rPr>
              <a:t>★ 让 AI 不再是 Demo,让企业系统真正智能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 [团队名] · 联系: [邮箱]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5" nodeType="withEffect" dur="500" begin="12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6" nodeType="withEffect" dur="500" begin="1800ms" fill="hold">
              <p:animEffect presetClass="entr" presetId="10" dur="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7" nodeType="withEffect" dur="1500" begin="6000ms" fill="hold" repeatCount="indefinite">
              <p:animEffect presetClass="emph" presetId="26" dur="1500"/>
            </p:cTn>
          </p:par>
        </p:par>
      </p:par>
    </p:tnLst>
  </p:timing>
  <p:timing>
    <p:tnLst>
      <p:par>
        <p:pPr/>
        <p:par>
          <p:cond>
            <p:tnCond val="0"/>
          </p:cond>
          <p:par>
            <p:cTn id="9" nodeType="withEffect" dur="500" begin="10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